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8288000" cy="10287000"/>
  <p:notesSz cx="6858000" cy="9144000"/>
  <p:embeddedFontLst>
    <p:embeddedFont>
      <p:font typeface="Calibri" panose="020F0502020204030204"/>
      <p:regular r:id="rId16"/>
    </p:embeddedFont>
    <p:embeddedFont>
      <p:font typeface="Cinzel Decorative" panose="0000050000000000000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11E5996-A6A6-40EC-ACF6-EEF7AF9ABF5F}" styleName="Table_0">
    <a:wholeTbl>
      <a:tcTxStyle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CFD7E7"/>
          </a:solidFill>
        </a:fill>
      </a:tcStyle>
    </a:wholeTbl>
    <a:band1H>
      <a:tcStyle>
        <a:tcBdr/>
      </a:tcStyle>
    </a:band1H>
    <a:band2H>
      <a:tcTxStyle/>
      <a:tcStyle>
        <a:tcBdr/>
        <a:fill>
          <a:solidFill>
            <a:srgbClr val="E8ECF4"/>
          </a:solidFill>
        </a:fill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TxStyle b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p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" name="Google Shape;105;p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5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3" name="Google Shape;143;p6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2" name="Google Shape;162;p7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" name="Google Shape;181;p8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0" name="Google Shape;200;p9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Blank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sldNum" idx="1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type="body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 panose="020F0502020204030204"/>
              <a:buNone/>
              <a:defRPr>
                <a:solidFill>
                  <a:srgbClr val="888888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 panose="020F0502020204030204"/>
              <a:buNone/>
              <a:defRPr>
                <a:solidFill>
                  <a:srgbClr val="888888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 panose="020F0502020204030204"/>
              <a:buNone/>
              <a:defRPr>
                <a:solidFill>
                  <a:srgbClr val="888888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 panose="020F0502020204030204"/>
              <a:buNone/>
              <a:defRPr>
                <a:solidFill>
                  <a:srgbClr val="888888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 panose="020F0502020204030204"/>
              <a:buNone/>
              <a:defRPr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type="sldNum" idx="1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type="sldNum" idx="1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 panose="020F0502020204030204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type="body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 panose="020F0502020204030204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 panose="020F0502020204030204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 panose="020F0502020204030204"/>
              <a:buNone/>
              <a:defRPr sz="20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 panose="020F0502020204030204"/>
              <a:buNone/>
              <a:defRPr sz="20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 panose="020F0502020204030204"/>
              <a:buNone/>
              <a:defRPr sz="20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type="sldNum" idx="1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marL="914400" lvl="1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marL="1371600" lvl="2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marL="1828800" lvl="3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marL="2286000" lvl="4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type="sldNum" idx="1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type="body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 panose="020F0502020204030204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 panose="020F0502020204030204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 panose="020F0502020204030204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 panose="020F0502020204030204"/>
              <a:buNone/>
              <a:defRPr sz="24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 panose="020F0502020204030204"/>
              <a:buNone/>
              <a:defRPr sz="2400" b="1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type="body" idx="2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type="sldNum" idx="1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type="sldNum" idx="1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 panose="020F0502020204030204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type="body" idx="2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type="sldNum" idx="1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 panose="020F0502020204030204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19"/>
          <p:cNvSpPr/>
          <p:nvPr>
            <p:ph type="pic" idx="2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9"/>
          <p:cNvSpPr txBox="1"/>
          <p:nvPr>
            <p:ph type="body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F0502020204030204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F0502020204030204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F0502020204030204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F0502020204030204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F0502020204030204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type="sldNum" idx="1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Char char="–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Char char="–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Char char="»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type="sldNum" idx="1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/>
          <p:nvPr/>
        </p:nvSpPr>
        <p:spPr>
          <a:xfrm>
            <a:off x="-274131" y="-311289"/>
            <a:ext cx="2731199" cy="273120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5455878" y="7182583"/>
            <a:ext cx="971090" cy="1339433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-1599929" y="4779066"/>
            <a:ext cx="6342222" cy="5644577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" name="Google Shape;52;p1"/>
          <p:cNvSpPr/>
          <p:nvPr/>
        </p:nvSpPr>
        <p:spPr>
          <a:xfrm flipH="1">
            <a:off x="13544441" y="4779066"/>
            <a:ext cx="6342222" cy="5644577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" name="Google Shape;53;p1"/>
          <p:cNvSpPr/>
          <p:nvPr/>
        </p:nvSpPr>
        <p:spPr>
          <a:xfrm flipH="1">
            <a:off x="16200370" y="-311289"/>
            <a:ext cx="2731200" cy="273120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" name="Google Shape;54;p1"/>
          <p:cNvSpPr/>
          <p:nvPr/>
        </p:nvSpPr>
        <p:spPr>
          <a:xfrm flipH="1">
            <a:off x="12025121" y="7182583"/>
            <a:ext cx="971089" cy="1339433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55" name="Google Shape;55;p1"/>
          <p:cNvGrpSpPr/>
          <p:nvPr/>
        </p:nvGrpSpPr>
        <p:grpSpPr>
          <a:xfrm>
            <a:off x="3206536" y="-571969"/>
            <a:ext cx="12244263" cy="2143200"/>
            <a:chOff x="-1" y="-324180"/>
            <a:chExt cx="12244263" cy="2143200"/>
          </a:xfrm>
        </p:grpSpPr>
        <p:sp>
          <p:nvSpPr>
            <p:cNvPr id="56" name="Google Shape;56;p1"/>
            <p:cNvSpPr/>
            <p:nvPr/>
          </p:nvSpPr>
          <p:spPr>
            <a:xfrm>
              <a:off x="9620462" y="77665"/>
              <a:ext cx="2623800" cy="1339500"/>
            </a:xfrm>
            <a:prstGeom prst="rect">
              <a:avLst/>
            </a:prstGeom>
            <a:blipFill rotWithShape="1">
              <a:blip r:embed="rId4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4815760" y="-324181"/>
              <a:ext cx="2243400" cy="2143200"/>
            </a:xfrm>
            <a:prstGeom prst="rect">
              <a:avLst/>
            </a:prstGeom>
            <a:blipFill rotWithShape="1">
              <a:blip r:embed="rId5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-1" y="280132"/>
              <a:ext cx="1939145" cy="823772"/>
            </a:xfrm>
            <a:prstGeom prst="rect">
              <a:avLst/>
            </a:prstGeom>
            <a:blipFill rotWithShape="1">
              <a:blip r:embed="rId6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9" name="Google Shape;59;p1"/>
          <p:cNvSpPr txBox="1"/>
          <p:nvPr/>
        </p:nvSpPr>
        <p:spPr>
          <a:xfrm>
            <a:off x="7106850" y="2058250"/>
            <a:ext cx="407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4200"/>
              </a:spcBef>
              <a:spcAft>
                <a:spcPts val="4200"/>
              </a:spcAft>
              <a:buNone/>
            </a:pPr>
            <a:r>
              <a:rPr lang="en-US" sz="3400">
                <a:solidFill>
                  <a:srgbClr val="FFFFFF"/>
                </a:solidFill>
                <a:latin typeface="Cinzel Decorative" panose="00000500000000000000"/>
                <a:ea typeface="Cinzel Decorative" panose="00000500000000000000"/>
                <a:cs typeface="Cinzel Decorative" panose="00000500000000000000"/>
                <a:sym typeface="Cinzel Decorative" panose="00000500000000000000"/>
              </a:rPr>
              <a:t>arch presents</a:t>
            </a:r>
            <a:endParaRPr sz="3400">
              <a:solidFill>
                <a:srgbClr val="FFFFFF"/>
              </a:solidFill>
              <a:latin typeface="Cinzel Decorative" panose="00000500000000000000"/>
              <a:ea typeface="Cinzel Decorative" panose="00000500000000000000"/>
              <a:cs typeface="Cinzel Decorative" panose="00000500000000000000"/>
              <a:sym typeface="Cinzel Decorative" panose="00000500000000000000"/>
            </a:endParaRPr>
          </a:p>
        </p:txBody>
      </p:sp>
      <p:grpSp>
        <p:nvGrpSpPr>
          <p:cNvPr id="60" name="Google Shape;60;p1"/>
          <p:cNvGrpSpPr/>
          <p:nvPr/>
        </p:nvGrpSpPr>
        <p:grpSpPr>
          <a:xfrm>
            <a:off x="4220972" y="3152042"/>
            <a:ext cx="10215389" cy="3644737"/>
            <a:chOff x="5379931" y="3438250"/>
            <a:chExt cx="7897479" cy="2817732"/>
          </a:xfrm>
        </p:grpSpPr>
        <p:sp>
          <p:nvSpPr>
            <p:cNvPr id="61" name="Google Shape;61;p1"/>
            <p:cNvSpPr txBox="1"/>
            <p:nvPr/>
          </p:nvSpPr>
          <p:spPr>
            <a:xfrm>
              <a:off x="5784900" y="3438250"/>
              <a:ext cx="67182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250" tIns="118250" rIns="118250" bIns="118250" anchor="t" anchorCtr="0">
              <a:spAutoFit/>
            </a:bodyPr>
            <a:lstStyle/>
            <a:p>
              <a:pPr marL="0" lvl="0" indent="0" algn="ctr" rtl="0">
                <a:lnSpc>
                  <a:spcPct val="140000"/>
                </a:lnSpc>
                <a:spcBef>
                  <a:spcPts val="5435"/>
                </a:spcBef>
                <a:spcAft>
                  <a:spcPts val="5435"/>
                </a:spcAft>
                <a:buNone/>
              </a:pPr>
              <a:r>
                <a:rPr lang="en-US" sz="5175" b="1">
                  <a:solidFill>
                    <a:srgbClr val="FFFFFF"/>
                  </a:solidFill>
                  <a:latin typeface="Cinzel Decorative" panose="00000500000000000000"/>
                  <a:ea typeface="Cinzel Decorative" panose="00000500000000000000"/>
                  <a:cs typeface="Cinzel Decorative" panose="00000500000000000000"/>
                  <a:sym typeface="Cinzel Decorative" panose="00000500000000000000"/>
                </a:rPr>
                <a:t>2</a:t>
              </a:r>
              <a:r>
                <a:rPr lang="en-US" sz="5175" b="1" baseline="30000">
                  <a:solidFill>
                    <a:srgbClr val="FFFFFF"/>
                  </a:solidFill>
                  <a:latin typeface="Cinzel Decorative" panose="00000500000000000000"/>
                  <a:ea typeface="Cinzel Decorative" panose="00000500000000000000"/>
                  <a:cs typeface="Cinzel Decorative" panose="00000500000000000000"/>
                  <a:sym typeface="Cinzel Decorative" panose="00000500000000000000"/>
                </a:rPr>
                <a:t>nd</a:t>
              </a:r>
              <a:r>
                <a:rPr lang="en-US" sz="5175" b="1">
                  <a:solidFill>
                    <a:srgbClr val="FFFFFF"/>
                  </a:solidFill>
                  <a:latin typeface="Cinzel Decorative" panose="00000500000000000000"/>
                  <a:ea typeface="Cinzel Decorative" panose="00000500000000000000"/>
                  <a:cs typeface="Cinzel Decorative" panose="00000500000000000000"/>
                  <a:sym typeface="Cinzel Decorative" panose="00000500000000000000"/>
                </a:rPr>
                <a:t> edition of</a:t>
              </a:r>
              <a:endParaRPr sz="5175" b="1">
                <a:solidFill>
                  <a:srgbClr val="FFFFFF"/>
                </a:solidFill>
                <a:latin typeface="Cinzel Decorative" panose="00000500000000000000"/>
                <a:ea typeface="Cinzel Decorative" panose="00000500000000000000"/>
                <a:cs typeface="Cinzel Decorative" panose="00000500000000000000"/>
                <a:sym typeface="Cinzel Decorative" panose="00000500000000000000"/>
              </a:endParaRPr>
            </a:p>
          </p:txBody>
        </p:sp>
        <p:pic>
          <p:nvPicPr>
            <p:cNvPr id="62" name="Google Shape;62;p1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5379930" y="3616850"/>
              <a:ext cx="7897479" cy="26391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1"/>
            <p:cNvSpPr txBox="1"/>
            <p:nvPr/>
          </p:nvSpPr>
          <p:spPr>
            <a:xfrm>
              <a:off x="5969563" y="5455575"/>
              <a:ext cx="67182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250" tIns="118250" rIns="118250" bIns="118250" anchor="t" anchorCtr="0">
              <a:spAutoFit/>
            </a:bodyPr>
            <a:lstStyle/>
            <a:p>
              <a:pPr marL="0" lvl="0" indent="0" algn="ctr" rtl="0">
                <a:lnSpc>
                  <a:spcPct val="140000"/>
                </a:lnSpc>
                <a:spcBef>
                  <a:spcPts val="5435"/>
                </a:spcBef>
                <a:spcAft>
                  <a:spcPts val="5435"/>
                </a:spcAft>
                <a:buNone/>
              </a:pPr>
              <a:r>
                <a:rPr lang="en-US" sz="5175" b="1">
                  <a:solidFill>
                    <a:srgbClr val="FFFFFF"/>
                  </a:solidFill>
                  <a:latin typeface="Cinzel Decorative" panose="00000500000000000000"/>
                  <a:ea typeface="Cinzel Decorative" panose="00000500000000000000"/>
                  <a:cs typeface="Cinzel Decorative" panose="00000500000000000000"/>
                  <a:sym typeface="Cinzel Decorative" panose="00000500000000000000"/>
                </a:rPr>
                <a:t>10hr hackathon</a:t>
              </a:r>
              <a:endParaRPr sz="5175" b="1">
                <a:solidFill>
                  <a:srgbClr val="FFFFFF"/>
                </a:solidFill>
                <a:latin typeface="Cinzel Decorative" panose="00000500000000000000"/>
                <a:ea typeface="Cinzel Decorative" panose="00000500000000000000"/>
                <a:cs typeface="Cinzel Decorative" panose="00000500000000000000"/>
                <a:sym typeface="Cinzel Decorative" panose="00000500000000000000"/>
              </a:endParaRPr>
            </a:p>
          </p:txBody>
        </p:sp>
      </p:grpSp>
      <p:sp>
        <p:nvSpPr>
          <p:cNvPr id="501" name="Project tag 501"/>
          <p:cNvSpPr/>
          <p:nvPr/>
        </p:nvSpPr>
        <p:spPr>
          <a:xfrm>
            <a:off x="4700000" y="8000000"/>
            <a:ext cx="8900000" cy="1500000"/>
          </a:xfrm>
          <a:prstGeom prst="roundRect">
            <a:avLst>
              <a:gd name="adj" fmla="val 25000"/>
            </a:avLst>
          </a:prstGeom>
          <a:solidFill>
            <a:srgbClr val="262626"/>
          </a:solidFill>
          <a:ln w="28575">
            <a:solidFill>
              <a:srgbClr val="FF8C1A"/>
            </a:solidFill>
          </a:ln>
        </p:spPr>
        <p:txBody>
          <a:bodyPr wrap="square" lIns="180000" tIns="120000" rIns="180000" bIns="120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38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GhostTrace</a:t>
            </a:r>
            <a:endParaRPr lang="en-US" sz="380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Autonomous Financial Crime Investigation</a:t>
            </a:r>
            <a:endParaRPr lang="en-US"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/>
          <p:nvPr/>
        </p:nvSpPr>
        <p:spPr>
          <a:xfrm>
            <a:off x="-768748" y="-853415"/>
            <a:ext cx="3962348" cy="376423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" name="Google Shape;69;p2"/>
          <p:cNvSpPr/>
          <p:nvPr/>
        </p:nvSpPr>
        <p:spPr>
          <a:xfrm flipH="1">
            <a:off x="14994729" y="-1414325"/>
            <a:ext cx="4345800" cy="4128511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70" name="Google Shape;70;p2"/>
          <p:cNvGrpSpPr/>
          <p:nvPr/>
        </p:nvGrpSpPr>
        <p:grpSpPr>
          <a:xfrm>
            <a:off x="2368788" y="8390623"/>
            <a:ext cx="13550424" cy="2179108"/>
            <a:chOff x="0" y="-1"/>
            <a:chExt cx="13550423" cy="2179107"/>
          </a:xfrm>
        </p:grpSpPr>
        <p:sp>
          <p:nvSpPr>
            <p:cNvPr id="71" name="Google Shape;71;p2"/>
            <p:cNvSpPr/>
            <p:nvPr/>
          </p:nvSpPr>
          <p:spPr>
            <a:xfrm>
              <a:off x="5245398" y="1054994"/>
              <a:ext cx="978282" cy="1040725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0" y="81605"/>
              <a:ext cx="5483874" cy="1946777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 flipH="1">
              <a:off x="8066548" y="-1"/>
              <a:ext cx="5483875" cy="1946776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299044" y="1054994"/>
              <a:ext cx="978282" cy="1040725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124173" y="676405"/>
              <a:ext cx="1412540" cy="1502701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76" name="Google Shape;76;p2"/>
          <p:cNvSpPr/>
          <p:nvPr/>
        </p:nvSpPr>
        <p:spPr>
          <a:xfrm>
            <a:off x="15745635" y="8842916"/>
            <a:ext cx="3594895" cy="2138963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-585022" y="8842916"/>
            <a:ext cx="3594896" cy="2138963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78" name="Google Shape;78;p2"/>
          <p:cNvGraphicFramePr/>
          <p:nvPr/>
        </p:nvGraphicFramePr>
        <p:xfrm>
          <a:off x="1712067" y="3320286"/>
          <a:ext cx="14456700" cy="5095500"/>
        </p:xfrm>
        <a:graphic>
          <a:graphicData uri="http://schemas.openxmlformats.org/drawingml/2006/table">
            <a:tbl>
              <a:tblPr>
                <a:noFill/>
                <a:tableStyleId>{511E5996-A6A6-40EC-ACF6-EEF7AF9ABF5F}</a:tableStyleId>
              </a:tblPr>
              <a:tblGrid>
                <a:gridCol w="3614175"/>
                <a:gridCol w="3614175"/>
                <a:gridCol w="3614175"/>
                <a:gridCol w="3614175"/>
              </a:tblGrid>
              <a:tr h="1033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9E2"/>
                        </a:buClr>
                        <a:buSzPts val="3900"/>
                        <a:buFont typeface="Calibri" panose="020F0502020204030204"/>
                        <a:buNone/>
                      </a:pPr>
                      <a:r>
                        <a:rPr lang="en-US" sz="3900" u="none" strike="noStrike" cap="none">
                          <a:solidFill>
                            <a:srgbClr val="FCF9E2"/>
                          </a:solidFill>
                        </a:rPr>
                        <a:t>Name</a:t>
                      </a:r>
                      <a:endParaRPr lang="en-US" sz="3900" u="none" strike="noStrike" cap="none">
                        <a:solidFill>
                          <a:srgbClr val="FCF9E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9E2"/>
                        </a:buClr>
                        <a:buSzPts val="3900"/>
                        <a:buFont typeface="Calibri" panose="020F0502020204030204"/>
                        <a:buNone/>
                      </a:pPr>
                      <a:r>
                        <a:rPr lang="en-US" sz="3900" u="none" strike="noStrike" cap="none">
                          <a:solidFill>
                            <a:srgbClr val="FCF9E2"/>
                          </a:solidFill>
                        </a:rPr>
                        <a:t>SRN/PRN</a:t>
                      </a:r>
                      <a:endParaRPr lang="en-US" sz="3900" u="none" strike="noStrike" cap="none">
                        <a:solidFill>
                          <a:srgbClr val="FCF9E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9E2"/>
                        </a:buClr>
                        <a:buSzPts val="3900"/>
                        <a:buFont typeface="Calibri" panose="020F0502020204030204"/>
                        <a:buNone/>
                      </a:pPr>
                      <a:r>
                        <a:rPr lang="en-US" sz="3900" u="none" strike="noStrike" cap="none">
                          <a:solidFill>
                            <a:srgbClr val="FCF9E2"/>
                          </a:solidFill>
                        </a:rPr>
                        <a:t>Email ID</a:t>
                      </a:r>
                      <a:endParaRPr lang="en-US" sz="3900" u="none" strike="noStrike" cap="none">
                        <a:solidFill>
                          <a:srgbClr val="FCF9E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9E2"/>
                        </a:buClr>
                        <a:buSzPts val="3900"/>
                        <a:buFont typeface="Calibri" panose="020F0502020204030204"/>
                        <a:buNone/>
                      </a:pPr>
                      <a:r>
                        <a:rPr lang="en-US" sz="3900" u="none" strike="noStrike" cap="none">
                          <a:solidFill>
                            <a:srgbClr val="FCF9E2"/>
                          </a:solidFill>
                        </a:rPr>
                        <a:t>Phone Number</a:t>
                      </a:r>
                      <a:endParaRPr lang="en-US" sz="3900" u="none" strike="noStrike" cap="none">
                        <a:solidFill>
                          <a:srgbClr val="FCF9E2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3E3E"/>
                    </a:solidFill>
                  </a:tcPr>
                </a:tc>
              </a:tr>
              <a:tr h="1015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2200" b="0" i="0" dirty="0">
                          <a:solidFill>
                            <a:srgbClr val="FDF9E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Pooja Avadhani</a:t>
                      </a:r>
                      <a:endParaRPr sz="18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2200" b="0" i="0" dirty="0">
                          <a:solidFill>
                            <a:srgbClr val="FDF9E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PES1UG24CS323</a:t>
                      </a:r>
                      <a:endParaRPr sz="18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dirty="0">
                          <a:solidFill>
                            <a:srgbClr val="FDF9E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Poojaavadhani71@gmail.com</a:t>
                      </a:r>
                      <a:endParaRPr sz="18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2200" b="0" i="0" dirty="0">
                          <a:solidFill>
                            <a:srgbClr val="FDF9E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6362639882</a:t>
                      </a:r>
                      <a:endParaRPr sz="18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3E3E"/>
                    </a:solidFill>
                  </a:tcPr>
                </a:tc>
              </a:tr>
              <a:tr h="1015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2200" b="0" i="0" dirty="0">
                          <a:solidFill>
                            <a:srgbClr val="FDF9E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Parinitha Ramesh</a:t>
                      </a:r>
                      <a:endParaRPr sz="18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2200" b="0" i="0" dirty="0">
                          <a:solidFill>
                            <a:srgbClr val="FDF9E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PES1UG24CS317</a:t>
                      </a:r>
                      <a:endParaRPr sz="18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dirty="0">
                          <a:solidFill>
                            <a:srgbClr val="FDF9E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parinitharamesh2006@gmail.com</a:t>
                      </a:r>
                      <a:endParaRPr sz="18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2200" b="0" i="0" dirty="0">
                          <a:solidFill>
                            <a:srgbClr val="FDF9E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9743741204</a:t>
                      </a:r>
                      <a:endParaRPr sz="18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3E3E"/>
                    </a:solidFill>
                  </a:tcPr>
                </a:tc>
              </a:tr>
              <a:tr h="1015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2200" b="0" i="0" dirty="0">
                          <a:solidFill>
                            <a:srgbClr val="FDF9E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Kartik Naik</a:t>
                      </a:r>
                      <a:endParaRPr sz="18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2200" b="0" i="0" dirty="0">
                          <a:solidFill>
                            <a:srgbClr val="FDF9E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PES1UG24CS219</a:t>
                      </a:r>
                      <a:endParaRPr sz="18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dirty="0">
                          <a:solidFill>
                            <a:srgbClr val="FDF9E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kartikmnaik222@gmail.com</a:t>
                      </a:r>
                      <a:endParaRPr sz="18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2200" b="0" i="0" dirty="0">
                          <a:solidFill>
                            <a:srgbClr val="FDF9E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6362143267</a:t>
                      </a:r>
                      <a:endParaRPr sz="18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3E3E"/>
                    </a:solidFill>
                  </a:tcPr>
                </a:tc>
              </a:tr>
              <a:tr h="1015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2200" b="0" i="0" dirty="0">
                          <a:solidFill>
                            <a:srgbClr val="FDF9E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Pallavi Rajkumar</a:t>
                      </a:r>
                      <a:endParaRPr sz="18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2200" b="0" i="0" dirty="0">
                          <a:solidFill>
                            <a:srgbClr val="FDF9E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PES1UG24CS314</a:t>
                      </a:r>
                      <a:endParaRPr sz="18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dirty="0">
                          <a:solidFill>
                            <a:srgbClr val="FDF9E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bubanalepallavi@gmail.com</a:t>
                      </a:r>
                      <a:endParaRPr sz="18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3E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2200" b="0" i="0" dirty="0">
                          <a:solidFill>
                            <a:srgbClr val="FDF9E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6363578463</a:t>
                      </a:r>
                      <a:endParaRPr sz="18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1010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E3E3E"/>
                    </a:solidFill>
                  </a:tcPr>
                </a:tc>
              </a:tr>
            </a:tbl>
          </a:graphicData>
        </a:graphic>
      </p:graphicFrame>
      <p:sp>
        <p:nvSpPr>
          <p:cNvPr id="79" name="Google Shape;79;p2"/>
          <p:cNvSpPr txBox="1"/>
          <p:nvPr/>
        </p:nvSpPr>
        <p:spPr>
          <a:xfrm>
            <a:off x="1627400" y="1396675"/>
            <a:ext cx="14500000" cy="189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DF9E0"/>
              </a:buClr>
              <a:buSzPts val="6200"/>
              <a:buFont typeface="Arial" panose="020B0604020202020204"/>
              <a:buNone/>
            </a:pPr>
            <a:r>
              <a:rPr lang="en-US" sz="4400" b="0" i="0" u="none" strike="noStrike" cap="none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Team Name: </a:t>
            </a:r>
            <a:r>
              <a:rPr lang="en-US" altLang="en-GB" sz="4400" b="0" i="0" u="none" strike="noStrike" cap="none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Aapthamitra Audits</a:t>
            </a:r>
            <a:br>
              <a:rPr lang="en-US" sz="4400" b="0" i="0" u="none" strike="noStrike" cap="none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sz="4400" b="0" i="0" u="none" strike="noStrike" cap="none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</a:t>
            </a:r>
            <a:r>
              <a:rPr lang="en-US" sz="4400">
                <a:solidFill>
                  <a:srgbClr val="FDF9E0"/>
                </a:solidFill>
              </a:rPr>
              <a:t>rack Selected: The Vampire’s Ledger</a:t>
            </a:r>
            <a:endParaRPr sz="400"/>
          </a:p>
        </p:txBody>
      </p:sp>
      <p:grpSp>
        <p:nvGrpSpPr>
          <p:cNvPr id="80" name="Google Shape;80;p2"/>
          <p:cNvGrpSpPr/>
          <p:nvPr/>
        </p:nvGrpSpPr>
        <p:grpSpPr>
          <a:xfrm>
            <a:off x="3206536" y="-571969"/>
            <a:ext cx="12244263" cy="2143200"/>
            <a:chOff x="-1" y="-324180"/>
            <a:chExt cx="12244263" cy="2143200"/>
          </a:xfrm>
        </p:grpSpPr>
        <p:sp>
          <p:nvSpPr>
            <p:cNvPr id="81" name="Google Shape;81;p2"/>
            <p:cNvSpPr/>
            <p:nvPr/>
          </p:nvSpPr>
          <p:spPr>
            <a:xfrm>
              <a:off x="9620462" y="77665"/>
              <a:ext cx="2623800" cy="1339500"/>
            </a:xfrm>
            <a:prstGeom prst="rect">
              <a:avLst/>
            </a:prstGeom>
            <a:blipFill rotWithShape="1">
              <a:blip r:embed="rId5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4815760" y="-324181"/>
              <a:ext cx="2243400" cy="2143200"/>
            </a:xfrm>
            <a:prstGeom prst="rect">
              <a:avLst/>
            </a:prstGeom>
            <a:blipFill rotWithShape="1">
              <a:blip r:embed="rId6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-1" y="280132"/>
              <a:ext cx="1939200" cy="823800"/>
            </a:xfrm>
            <a:prstGeom prst="rect">
              <a:avLst/>
            </a:prstGeom>
            <a:blipFill rotWithShape="1">
              <a:blip r:embed="rId7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/>
          <p:nvPr/>
        </p:nvSpPr>
        <p:spPr>
          <a:xfrm>
            <a:off x="-952474" y="-1050044"/>
            <a:ext cx="3962348" cy="3764231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" name="Google Shape;89;p3"/>
          <p:cNvSpPr/>
          <p:nvPr/>
        </p:nvSpPr>
        <p:spPr>
          <a:xfrm flipH="1">
            <a:off x="14994729" y="-1414325"/>
            <a:ext cx="4345800" cy="4128511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90" name="Google Shape;90;p3"/>
          <p:cNvGrpSpPr/>
          <p:nvPr/>
        </p:nvGrpSpPr>
        <p:grpSpPr>
          <a:xfrm>
            <a:off x="2368788" y="8390623"/>
            <a:ext cx="13550424" cy="2179108"/>
            <a:chOff x="0" y="-1"/>
            <a:chExt cx="13550423" cy="2179107"/>
          </a:xfrm>
        </p:grpSpPr>
        <p:sp>
          <p:nvSpPr>
            <p:cNvPr id="91" name="Google Shape;91;p3"/>
            <p:cNvSpPr/>
            <p:nvPr/>
          </p:nvSpPr>
          <p:spPr>
            <a:xfrm>
              <a:off x="5245398" y="1054994"/>
              <a:ext cx="978282" cy="1040725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0" y="81605"/>
              <a:ext cx="5483874" cy="1946777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 flipH="1">
              <a:off x="8066548" y="-1"/>
              <a:ext cx="5483875" cy="1946776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7299044" y="1054994"/>
              <a:ext cx="978282" cy="1040725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6124173" y="676405"/>
              <a:ext cx="1412540" cy="1502701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96" name="Google Shape;96;p3"/>
          <p:cNvSpPr/>
          <p:nvPr/>
        </p:nvSpPr>
        <p:spPr>
          <a:xfrm>
            <a:off x="15745635" y="8842916"/>
            <a:ext cx="3594895" cy="2138963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-585022" y="8842916"/>
            <a:ext cx="3594896" cy="2138963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98" name="Google Shape;98;p3"/>
          <p:cNvGrpSpPr/>
          <p:nvPr/>
        </p:nvGrpSpPr>
        <p:grpSpPr>
          <a:xfrm>
            <a:off x="3021811" y="-636848"/>
            <a:ext cx="12244379" cy="2035156"/>
            <a:chOff x="-1" y="-325559"/>
            <a:chExt cx="12244377" cy="2035154"/>
          </a:xfrm>
        </p:grpSpPr>
        <p:sp>
          <p:nvSpPr>
            <p:cNvPr id="99" name="Google Shape;99;p3"/>
            <p:cNvSpPr/>
            <p:nvPr/>
          </p:nvSpPr>
          <p:spPr>
            <a:xfrm>
              <a:off x="9442894" y="0"/>
              <a:ext cx="2801482" cy="1494942"/>
            </a:xfrm>
            <a:prstGeom prst="rect">
              <a:avLst/>
            </a:prstGeom>
            <a:blipFill rotWithShape="1">
              <a:blip r:embed="rId5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4933058" y="-325559"/>
              <a:ext cx="2243459" cy="2035154"/>
            </a:xfrm>
            <a:prstGeom prst="rect">
              <a:avLst/>
            </a:prstGeom>
            <a:blipFill rotWithShape="1">
              <a:blip r:embed="rId6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-1" y="280132"/>
              <a:ext cx="1939145" cy="823772"/>
            </a:xfrm>
            <a:prstGeom prst="rect">
              <a:avLst/>
            </a:prstGeom>
            <a:blipFill rotWithShape="1">
              <a:blip r:embed="rId7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02" name="Title 502"/>
          <p:cNvSpPr txBox="1"/>
          <p:nvPr/>
        </p:nvSpPr>
        <p:spPr>
          <a:xfrm>
            <a:off x="3111500" y="922110"/>
            <a:ext cx="12063900" cy="1065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Statement</a:t>
            </a:r>
            <a:endParaRPr lang="en-US" sz="2400"/>
          </a:p>
        </p:txBody>
      </p:sp>
      <p:sp>
        <p:nvSpPr>
          <p:cNvPr id="503" name="Statement 503"/>
          <p:cNvSpPr/>
          <p:nvPr/>
        </p:nvSpPr>
        <p:spPr>
          <a:xfrm>
            <a:off x="1600000" y="2350000"/>
            <a:ext cx="15100000" cy="1600000"/>
          </a:xfrm>
          <a:prstGeom prst="roundRect">
            <a:avLst>
              <a:gd name="adj" fmla="val 7000"/>
            </a:avLst>
          </a:prstGeom>
          <a:solidFill>
            <a:srgbClr val="262626"/>
          </a:solidFill>
          <a:ln w="28575">
            <a:solidFill>
              <a:srgbClr val="FF8C1A"/>
            </a:solidFill>
          </a:ln>
        </p:spPr>
        <p:txBody>
          <a:bodyPr wrap="square" lIns="180000" tIns="120000" rIns="180000" bIns="120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Money mule rings launder illicit funds by hopping them across </a:t>
            </a:r>
            <a:r>
              <a:rPr lang="en-US" sz="28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hundreds of dummy accounts</a:t>
            </a:r>
            <a:r>
              <a:rPr lang="en-US" sz="28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Legacy fraud engines judge one transaction at a time, so the ring itself stays invisible.</a:t>
            </a:r>
            <a:endParaRPr lang="en-US" sz="2800"/>
          </a:p>
        </p:txBody>
      </p:sp>
      <p:sp>
        <p:nvSpPr>
          <p:cNvPr id="504" name="Card 504"/>
          <p:cNvSpPr/>
          <p:nvPr/>
        </p:nvSpPr>
        <p:spPr>
          <a:xfrm>
            <a:off x="1600000" y="4200000"/>
            <a:ext cx="4800000" cy="2900000"/>
          </a:xfrm>
          <a:prstGeom prst="roundRect">
            <a:avLst>
              <a:gd name="adj" fmla="val 7000"/>
            </a:avLst>
          </a:prstGeom>
          <a:solidFill>
            <a:srgbClr val="3A3A3A"/>
          </a:solidFill>
          <a:ln w="28575">
            <a:solidFill>
              <a:srgbClr val="FF8C1A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05" name="Badge 505"/>
          <p:cNvSpPr/>
          <p:nvPr/>
        </p:nvSpPr>
        <p:spPr>
          <a:xfrm>
            <a:off x="1850000" y="4450000"/>
            <a:ext cx="760000" cy="760000"/>
          </a:xfrm>
          <a:prstGeom prst="ellipse">
            <a:avLst/>
          </a:prstGeom>
          <a:solidFill>
            <a:srgbClr val="FF8C1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lang="en-US" sz="2800"/>
          </a:p>
        </p:txBody>
      </p:sp>
      <p:sp>
        <p:nvSpPr>
          <p:cNvPr id="506" name="Text 506"/>
          <p:cNvSpPr txBox="1"/>
          <p:nvPr/>
        </p:nvSpPr>
        <p:spPr>
          <a:xfrm>
            <a:off x="2800000" y="4450000"/>
            <a:ext cx="3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Single-Event Bias</a:t>
            </a:r>
            <a:endParaRPr lang="en-US" sz="2800"/>
          </a:p>
        </p:txBody>
      </p:sp>
      <p:sp>
        <p:nvSpPr>
          <p:cNvPr id="507" name="Text 507"/>
          <p:cNvSpPr txBox="1"/>
          <p:nvPr/>
        </p:nvSpPr>
        <p:spPr>
          <a:xfrm>
            <a:off x="1850000" y="5450000"/>
            <a:ext cx="43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D6D1B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Isolated transactions slip past filters that score one event at a time.</a:t>
            </a:r>
            <a:endParaRPr lang="en-US" sz="2400"/>
          </a:p>
        </p:txBody>
      </p:sp>
      <p:sp>
        <p:nvSpPr>
          <p:cNvPr id="508" name="Card 508"/>
          <p:cNvSpPr/>
          <p:nvPr/>
        </p:nvSpPr>
        <p:spPr>
          <a:xfrm>
            <a:off x="6750000" y="4200000"/>
            <a:ext cx="4800000" cy="2900000"/>
          </a:xfrm>
          <a:prstGeom prst="roundRect">
            <a:avLst>
              <a:gd name="adj" fmla="val 7000"/>
            </a:avLst>
          </a:prstGeom>
          <a:solidFill>
            <a:srgbClr val="3A3A3A"/>
          </a:solidFill>
          <a:ln w="28575">
            <a:solidFill>
              <a:srgbClr val="FF8C1A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09" name="Badge 509"/>
          <p:cNvSpPr/>
          <p:nvPr/>
        </p:nvSpPr>
        <p:spPr>
          <a:xfrm>
            <a:off x="7000000" y="4450000"/>
            <a:ext cx="760000" cy="760000"/>
          </a:xfrm>
          <a:prstGeom prst="ellipse">
            <a:avLst/>
          </a:prstGeom>
          <a:solidFill>
            <a:srgbClr val="FF8C1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lang="en-US" sz="2800"/>
          </a:p>
        </p:txBody>
      </p:sp>
      <p:sp>
        <p:nvSpPr>
          <p:cNvPr id="510" name="Text 510"/>
          <p:cNvSpPr txBox="1"/>
          <p:nvPr/>
        </p:nvSpPr>
        <p:spPr>
          <a:xfrm>
            <a:off x="7950000" y="4450000"/>
            <a:ext cx="3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Distributed Smurfing</a:t>
            </a:r>
            <a:endParaRPr lang="en-US" sz="2800"/>
          </a:p>
        </p:txBody>
      </p:sp>
      <p:sp>
        <p:nvSpPr>
          <p:cNvPr id="511" name="Text 511"/>
          <p:cNvSpPr txBox="1"/>
          <p:nvPr/>
        </p:nvSpPr>
        <p:spPr>
          <a:xfrm>
            <a:off x="7000000" y="5450000"/>
            <a:ext cx="43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D6D1B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Mule networks split balances across hundreds of dummy hops.</a:t>
            </a:r>
            <a:endParaRPr lang="en-US" sz="2400"/>
          </a:p>
        </p:txBody>
      </p:sp>
      <p:sp>
        <p:nvSpPr>
          <p:cNvPr id="512" name="Card 512"/>
          <p:cNvSpPr/>
          <p:nvPr/>
        </p:nvSpPr>
        <p:spPr>
          <a:xfrm>
            <a:off x="11900000" y="4200000"/>
            <a:ext cx="4800000" cy="2900000"/>
          </a:xfrm>
          <a:prstGeom prst="roundRect">
            <a:avLst>
              <a:gd name="adj" fmla="val 7000"/>
            </a:avLst>
          </a:prstGeom>
          <a:solidFill>
            <a:srgbClr val="3A3A3A"/>
          </a:solidFill>
          <a:ln w="28575">
            <a:solidFill>
              <a:srgbClr val="FF8C1A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13" name="Badge 513"/>
          <p:cNvSpPr/>
          <p:nvPr/>
        </p:nvSpPr>
        <p:spPr>
          <a:xfrm>
            <a:off x="12150000" y="4450000"/>
            <a:ext cx="760000" cy="760000"/>
          </a:xfrm>
          <a:prstGeom prst="ellipse">
            <a:avLst/>
          </a:prstGeom>
          <a:solidFill>
            <a:srgbClr val="FF8C1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lang="en-US" sz="2800"/>
          </a:p>
        </p:txBody>
      </p:sp>
      <p:sp>
        <p:nvSpPr>
          <p:cNvPr id="514" name="Text 514"/>
          <p:cNvSpPr txBox="1"/>
          <p:nvPr/>
        </p:nvSpPr>
        <p:spPr>
          <a:xfrm>
            <a:off x="13100000" y="4450000"/>
            <a:ext cx="3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Manual Investigation</a:t>
            </a:r>
            <a:endParaRPr lang="en-US" sz="2800"/>
          </a:p>
        </p:txBody>
      </p:sp>
      <p:sp>
        <p:nvSpPr>
          <p:cNvPr id="515" name="Text 515"/>
          <p:cNvSpPr txBox="1"/>
          <p:nvPr/>
        </p:nvSpPr>
        <p:spPr>
          <a:xfrm>
            <a:off x="12150000" y="5450000"/>
            <a:ext cx="43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D6D1B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Compliance officers spend days drafting each regulatory filing.</a:t>
            </a:r>
            <a:endParaRPr lang="en-US" sz="2400"/>
          </a:p>
        </p:txBody>
      </p:sp>
      <p:sp>
        <p:nvSpPr>
          <p:cNvPr id="516" name="Result 516"/>
          <p:cNvSpPr/>
          <p:nvPr/>
        </p:nvSpPr>
        <p:spPr>
          <a:xfrm>
            <a:off x="1600000" y="7300000"/>
            <a:ext cx="15100000" cy="750000"/>
          </a:xfrm>
          <a:prstGeom prst="roundRect">
            <a:avLst>
              <a:gd name="adj" fmla="val 30000"/>
            </a:avLst>
          </a:prstGeom>
          <a:noFill/>
          <a:ln>
            <a:noFill/>
          </a:ln>
        </p:spPr>
        <p:txBody>
          <a:bodyPr wrap="square" lIns="180000" tIns="120000" rIns="180000" bIns="120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Result: </a:t>
            </a:r>
            <a:r>
              <a:rPr lang="en-US" sz="26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rings stay hidden, and every SAR (Suspicious Activity Report) arrives late.</a:t>
            </a:r>
            <a:endParaRPr lang="en-US"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-952474" y="-1050044"/>
            <a:ext cx="3962348" cy="3764231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" name="Google Shape;108;p4"/>
          <p:cNvSpPr/>
          <p:nvPr/>
        </p:nvSpPr>
        <p:spPr>
          <a:xfrm flipH="1">
            <a:off x="14994729" y="-1414325"/>
            <a:ext cx="4345800" cy="4128511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09" name="Google Shape;109;p4"/>
          <p:cNvGrpSpPr/>
          <p:nvPr/>
        </p:nvGrpSpPr>
        <p:grpSpPr>
          <a:xfrm>
            <a:off x="2368788" y="8390623"/>
            <a:ext cx="13550424" cy="2179108"/>
            <a:chOff x="0" y="-1"/>
            <a:chExt cx="13550423" cy="2179107"/>
          </a:xfrm>
        </p:grpSpPr>
        <p:sp>
          <p:nvSpPr>
            <p:cNvPr id="110" name="Google Shape;110;p4"/>
            <p:cNvSpPr/>
            <p:nvPr/>
          </p:nvSpPr>
          <p:spPr>
            <a:xfrm>
              <a:off x="5245398" y="1054994"/>
              <a:ext cx="978282" cy="1040725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0" y="81605"/>
              <a:ext cx="5483874" cy="1946777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 flipH="1">
              <a:off x="8066548" y="-1"/>
              <a:ext cx="5483875" cy="1946776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7299044" y="1054994"/>
              <a:ext cx="978282" cy="1040725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6124173" y="676405"/>
              <a:ext cx="1412540" cy="1502701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15" name="Google Shape;115;p4"/>
          <p:cNvSpPr/>
          <p:nvPr/>
        </p:nvSpPr>
        <p:spPr>
          <a:xfrm>
            <a:off x="15745635" y="8842916"/>
            <a:ext cx="3594895" cy="2138963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-585022" y="8842916"/>
            <a:ext cx="3594896" cy="2138963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17" name="Google Shape;117;p4"/>
          <p:cNvGrpSpPr/>
          <p:nvPr/>
        </p:nvGrpSpPr>
        <p:grpSpPr>
          <a:xfrm>
            <a:off x="3021811" y="-661897"/>
            <a:ext cx="12244379" cy="2085254"/>
            <a:chOff x="-1" y="-350608"/>
            <a:chExt cx="12244377" cy="2085253"/>
          </a:xfrm>
        </p:grpSpPr>
        <p:sp>
          <p:nvSpPr>
            <p:cNvPr id="118" name="Google Shape;118;p4"/>
            <p:cNvSpPr/>
            <p:nvPr/>
          </p:nvSpPr>
          <p:spPr>
            <a:xfrm>
              <a:off x="9442894" y="0"/>
              <a:ext cx="2801482" cy="1494942"/>
            </a:xfrm>
            <a:prstGeom prst="rect">
              <a:avLst/>
            </a:prstGeom>
            <a:blipFill rotWithShape="1">
              <a:blip r:embed="rId5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4918979" y="-350608"/>
              <a:ext cx="2243460" cy="2085253"/>
            </a:xfrm>
            <a:prstGeom prst="rect">
              <a:avLst/>
            </a:prstGeom>
            <a:blipFill rotWithShape="1">
              <a:blip r:embed="rId6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-1" y="280132"/>
              <a:ext cx="1939145" cy="823772"/>
            </a:xfrm>
            <a:prstGeom prst="rect">
              <a:avLst/>
            </a:prstGeom>
            <a:blipFill rotWithShape="1">
              <a:blip r:embed="rId7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17" name="Title 517"/>
          <p:cNvSpPr txBox="1"/>
          <p:nvPr/>
        </p:nvSpPr>
        <p:spPr>
          <a:xfrm>
            <a:off x="3111500" y="922110"/>
            <a:ext cx="12063900" cy="1065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Novelty</a:t>
            </a:r>
            <a:endParaRPr lang="en-US" sz="2400"/>
          </a:p>
        </p:txBody>
      </p:sp>
      <p:sp>
        <p:nvSpPr>
          <p:cNvPr id="518" name="Novelty 518"/>
          <p:cNvSpPr/>
          <p:nvPr/>
        </p:nvSpPr>
        <p:spPr>
          <a:xfrm>
            <a:off x="1600000" y="2400000"/>
            <a:ext cx="7325000" cy="4950000"/>
          </a:xfrm>
          <a:prstGeom prst="roundRect">
            <a:avLst>
              <a:gd name="adj" fmla="val 7000"/>
            </a:avLst>
          </a:prstGeom>
          <a:solidFill>
            <a:srgbClr val="3A3A3A"/>
          </a:solidFill>
          <a:ln w="28575">
            <a:solidFill>
              <a:srgbClr val="FF8C1A"/>
            </a:solidFill>
          </a:ln>
        </p:spPr>
        <p:txBody>
          <a:bodyPr wrap="square" lIns="300000" tIns="250000" rIns="300000" bIns="15000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1) How is it different from existing ideas?</a:t>
            </a:r>
            <a:endParaRPr lang="en-US" sz="2800"/>
          </a:p>
          <a:p>
            <a:pPr marL="379730" indent="-37973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F8C1A"/>
              </a:buClr>
              <a:buFont typeface="Arial" panose="020B0604020202020204"/>
              <a:buChar char="•"/>
            </a:pPr>
            <a:r>
              <a:rPr lang="en-US" sz="25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Benchmarked vs a baseline on varied rings and legit look-alike loops</a:t>
            </a:r>
            <a:endParaRPr lang="en-US" sz="2500"/>
          </a:p>
          <a:p>
            <a:pPr marL="379730" indent="-37973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F8C1A"/>
              </a:buClr>
              <a:buFont typeface="Arial" panose="020B0604020202020204"/>
              <a:buChar char="•"/>
            </a:pPr>
            <a:r>
              <a:rPr lang="en-US" sz="25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Every alert is explained: cycle path, amounts, time gaps between hops</a:t>
            </a:r>
            <a:endParaRPr lang="en-US" sz="2500"/>
          </a:p>
          <a:p>
            <a:pPr marL="379730" indent="-37973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F8C1A"/>
              </a:buClr>
              <a:buFont typeface="Arial" panose="020B0604020202020204"/>
              <a:buChar char="•"/>
            </a:pPr>
            <a:r>
              <a:rPr lang="en-US" sz="25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graph engine computes the evidence; agents interpret it, never invent it</a:t>
            </a:r>
            <a:endParaRPr lang="en-US" sz="2500"/>
          </a:p>
          <a:p>
            <a:pPr marL="379730" indent="-37973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F8C1A"/>
              </a:buClr>
              <a:buFont typeface="Arial" panose="020B0604020202020204"/>
              <a:buChar char="•"/>
            </a:pPr>
            <a:r>
              <a:rPr lang="en-US" sz="25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One explainable workflow: graph evidence, entity profiling, draft SAR</a:t>
            </a:r>
            <a:endParaRPr lang="en-US" sz="2500"/>
          </a:p>
        </p:txBody>
      </p:sp>
      <p:sp>
        <p:nvSpPr>
          <p:cNvPr id="519" name="Novelty 519"/>
          <p:cNvSpPr/>
          <p:nvPr/>
        </p:nvSpPr>
        <p:spPr>
          <a:xfrm>
            <a:off x="9375000" y="2400000"/>
            <a:ext cx="7325000" cy="4950000"/>
          </a:xfrm>
          <a:prstGeom prst="roundRect">
            <a:avLst>
              <a:gd name="adj" fmla="val 7000"/>
            </a:avLst>
          </a:prstGeom>
          <a:solidFill>
            <a:srgbClr val="3A3A3A"/>
          </a:solidFill>
          <a:ln w="28575">
            <a:solidFill>
              <a:srgbClr val="FF8C1A"/>
            </a:solidFill>
          </a:ln>
        </p:spPr>
        <p:txBody>
          <a:bodyPr wrap="square" lIns="300000" tIns="250000" rIns="300000" bIns="15000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2) How does it solve the problem?</a:t>
            </a:r>
            <a:endParaRPr lang="en-US" sz="2800"/>
          </a:p>
          <a:p>
            <a:pPr marL="379730" indent="-37973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F8C1A"/>
              </a:buClr>
              <a:buFont typeface="Arial" panose="020B0604020202020204"/>
              <a:buChar char="•"/>
            </a:pPr>
            <a:r>
              <a:rPr lang="en-US" sz="25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Graph engine finds cycles, velocity spikes and shared devices from the data</a:t>
            </a:r>
            <a:endParaRPr lang="en-US" sz="2500"/>
          </a:p>
          <a:p>
            <a:pPr marL="379730" indent="-37973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F8C1A"/>
              </a:buClr>
              <a:buFont typeface="Arial" panose="020B0604020202020204"/>
              <a:buChar char="•"/>
            </a:pPr>
            <a:r>
              <a:rPr lang="en-US" sz="25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Profiler interprets deterministic checks on device IDs, geolocation and dormancy</a:t>
            </a:r>
            <a:endParaRPr lang="en-US" sz="2500"/>
          </a:p>
          <a:p>
            <a:pPr marL="379730" indent="-37973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F8C1A"/>
              </a:buClr>
              <a:buFont typeface="Arial" panose="020B0604020202020204"/>
              <a:buChar char="•"/>
            </a:pPr>
            <a:r>
              <a:rPr lang="en-US" sz="25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Compliance agent drafts a SAR and freeze recommendation citing that evidence</a:t>
            </a:r>
            <a:endParaRPr lang="en-US" sz="2500"/>
          </a:p>
          <a:p>
            <a:pPr marL="379730" indent="-37973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F8C1A"/>
              </a:buClr>
              <a:buFont typeface="Arial" panose="020B0604020202020204"/>
              <a:buChar char="•"/>
            </a:pPr>
            <a:r>
              <a:rPr lang="en-US" sz="25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Output is a draft for human review; nothing is filed or frozen</a:t>
            </a:r>
            <a:endParaRPr lang="en-US" sz="2500"/>
          </a:p>
        </p:txBody>
      </p:sp>
      <p:sp>
        <p:nvSpPr>
          <p:cNvPr id="520" name="Text 520"/>
          <p:cNvSpPr txBox="1"/>
          <p:nvPr/>
        </p:nvSpPr>
        <p:spPr>
          <a:xfrm>
            <a:off x="1600000" y="7500000"/>
            <a:ext cx="151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Our contribution is the integrated, evidence-grounded workflow. </a:t>
            </a:r>
            <a:r>
              <a:rPr lang="en-US" sz="2200" b="0" i="0" dirty="0">
                <a:solidFill>
                  <a:srgbClr val="D6D1B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Graph fraud detection and agents are established techniques on their own.</a:t>
            </a:r>
            <a:endParaRPr lang="en-US"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-952474" y="-1050044"/>
            <a:ext cx="3962348" cy="3764231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" name="Google Shape;127;p5"/>
          <p:cNvSpPr/>
          <p:nvPr/>
        </p:nvSpPr>
        <p:spPr>
          <a:xfrm flipH="1">
            <a:off x="14994729" y="-1414325"/>
            <a:ext cx="4345800" cy="4128511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28" name="Google Shape;128;p5"/>
          <p:cNvGrpSpPr/>
          <p:nvPr/>
        </p:nvGrpSpPr>
        <p:grpSpPr>
          <a:xfrm>
            <a:off x="2368788" y="8390623"/>
            <a:ext cx="13550424" cy="2179108"/>
            <a:chOff x="0" y="-1"/>
            <a:chExt cx="13550423" cy="2179107"/>
          </a:xfrm>
        </p:grpSpPr>
        <p:sp>
          <p:nvSpPr>
            <p:cNvPr id="129" name="Google Shape;129;p5"/>
            <p:cNvSpPr/>
            <p:nvPr/>
          </p:nvSpPr>
          <p:spPr>
            <a:xfrm>
              <a:off x="5245398" y="1054994"/>
              <a:ext cx="978282" cy="1040725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0" y="81605"/>
              <a:ext cx="5483874" cy="1946777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 flipH="1">
              <a:off x="8066548" y="-1"/>
              <a:ext cx="5483875" cy="1946776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7299044" y="1054994"/>
              <a:ext cx="978282" cy="1040725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6124173" y="676405"/>
              <a:ext cx="1412540" cy="1502701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34" name="Google Shape;134;p5"/>
          <p:cNvSpPr/>
          <p:nvPr/>
        </p:nvSpPr>
        <p:spPr>
          <a:xfrm>
            <a:off x="15745635" y="8842916"/>
            <a:ext cx="3594895" cy="2138963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-585022" y="8842916"/>
            <a:ext cx="3594896" cy="2138963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36" name="Google Shape;136;p5"/>
          <p:cNvGrpSpPr/>
          <p:nvPr/>
        </p:nvGrpSpPr>
        <p:grpSpPr>
          <a:xfrm>
            <a:off x="3166954" y="-775893"/>
            <a:ext cx="12244378" cy="2262447"/>
            <a:chOff x="-1" y="-439204"/>
            <a:chExt cx="12244377" cy="2262445"/>
          </a:xfrm>
        </p:grpSpPr>
        <p:sp>
          <p:nvSpPr>
            <p:cNvPr id="137" name="Google Shape;137;p5"/>
            <p:cNvSpPr/>
            <p:nvPr/>
          </p:nvSpPr>
          <p:spPr>
            <a:xfrm>
              <a:off x="9442894" y="0"/>
              <a:ext cx="2801482" cy="1494942"/>
            </a:xfrm>
            <a:prstGeom prst="rect">
              <a:avLst/>
            </a:prstGeom>
            <a:blipFill rotWithShape="1">
              <a:blip r:embed="rId5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4834508" y="-439204"/>
              <a:ext cx="2243460" cy="2262445"/>
            </a:xfrm>
            <a:prstGeom prst="rect">
              <a:avLst/>
            </a:prstGeom>
            <a:blipFill rotWithShape="1">
              <a:blip r:embed="rId6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-1" y="280132"/>
              <a:ext cx="1939145" cy="823772"/>
            </a:xfrm>
            <a:prstGeom prst="rect">
              <a:avLst/>
            </a:prstGeom>
            <a:blipFill rotWithShape="1">
              <a:blip r:embed="rId7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21" name="Title 521"/>
          <p:cNvSpPr txBox="1"/>
          <p:nvPr/>
        </p:nvSpPr>
        <p:spPr>
          <a:xfrm>
            <a:off x="3111500" y="922110"/>
            <a:ext cx="12063900" cy="1065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Brief about the idea</a:t>
            </a:r>
            <a:endParaRPr lang="en-US" sz="2400"/>
          </a:p>
        </p:txBody>
      </p:sp>
      <p:sp>
        <p:nvSpPr>
          <p:cNvPr id="522" name="Text 522"/>
          <p:cNvSpPr txBox="1"/>
          <p:nvPr/>
        </p:nvSpPr>
        <p:spPr>
          <a:xfrm>
            <a:off x="1600000" y="2350000"/>
            <a:ext cx="151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GhostTrace</a:t>
            </a:r>
            <a:r>
              <a:rPr lang="en-US" sz="28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is an explainable investigation workflow. A graph engine </a:t>
            </a:r>
            <a:r>
              <a:rPr lang="en-US" sz="28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computes the evidence</a:t>
            </a:r>
            <a:r>
              <a:rPr lang="en-US" sz="28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three agents interpret it, and the output is a draft SAR that cites every claim.</a:t>
            </a:r>
            <a:endParaRPr lang="en-US" sz="2800"/>
          </a:p>
        </p:txBody>
      </p:sp>
      <p:sp>
        <p:nvSpPr>
          <p:cNvPr id="523" name="Card 523"/>
          <p:cNvSpPr/>
          <p:nvPr/>
        </p:nvSpPr>
        <p:spPr>
          <a:xfrm>
            <a:off x="1600000" y="4100000"/>
            <a:ext cx="4600000" cy="3000000"/>
          </a:xfrm>
          <a:prstGeom prst="roundRect">
            <a:avLst>
              <a:gd name="adj" fmla="val 7000"/>
            </a:avLst>
          </a:prstGeom>
          <a:solidFill>
            <a:srgbClr val="3A3A3A"/>
          </a:solidFill>
          <a:ln w="28575">
            <a:solidFill>
              <a:srgbClr val="FF8C1A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24" name="Badge 524"/>
          <p:cNvSpPr/>
          <p:nvPr/>
        </p:nvSpPr>
        <p:spPr>
          <a:xfrm>
            <a:off x="1850000" y="4350000"/>
            <a:ext cx="700000" cy="700000"/>
          </a:xfrm>
          <a:prstGeom prst="ellipse">
            <a:avLst/>
          </a:prstGeom>
          <a:solidFill>
            <a:srgbClr val="FF8C1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lang="en-US" sz="2600"/>
          </a:p>
        </p:txBody>
      </p:sp>
      <p:sp>
        <p:nvSpPr>
          <p:cNvPr id="525" name="Text 525"/>
          <p:cNvSpPr txBox="1"/>
          <p:nvPr/>
        </p:nvSpPr>
        <p:spPr>
          <a:xfrm>
            <a:off x="2700000" y="4350000"/>
            <a:ext cx="335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Detective Agent</a:t>
            </a:r>
            <a:endParaRPr lang="en-US" sz="2600"/>
          </a:p>
        </p:txBody>
      </p:sp>
      <p:sp>
        <p:nvSpPr>
          <p:cNvPr id="526" name="Text 526"/>
          <p:cNvSpPr txBox="1"/>
          <p:nvPr/>
        </p:nvSpPr>
        <p:spPr>
          <a:xfrm>
            <a:off x="1850000" y="5300000"/>
            <a:ext cx="410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D6D1B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Reads graph-engine results: cycles, hop amounts, time gaps and velocity spikes.</a:t>
            </a:r>
            <a:endParaRPr lang="en-US" sz="2400"/>
          </a:p>
        </p:txBody>
      </p:sp>
      <p:sp>
        <p:nvSpPr>
          <p:cNvPr id="527" name="Arrow 527"/>
          <p:cNvSpPr/>
          <p:nvPr/>
        </p:nvSpPr>
        <p:spPr>
          <a:xfrm>
            <a:off x="6278000" y="5300000"/>
            <a:ext cx="494000" cy="500000"/>
          </a:xfrm>
          <a:prstGeom prst="rightArrow">
            <a:avLst/>
          </a:prstGeom>
          <a:solidFill>
            <a:srgbClr val="FF8C1A"/>
          </a:solidFill>
          <a:ln>
            <a:noFill/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28" name="Card 528"/>
          <p:cNvSpPr/>
          <p:nvPr/>
        </p:nvSpPr>
        <p:spPr>
          <a:xfrm>
            <a:off x="6850000" y="4100000"/>
            <a:ext cx="4600000" cy="3000000"/>
          </a:xfrm>
          <a:prstGeom prst="roundRect">
            <a:avLst>
              <a:gd name="adj" fmla="val 7000"/>
            </a:avLst>
          </a:prstGeom>
          <a:solidFill>
            <a:srgbClr val="3A3A3A"/>
          </a:solidFill>
          <a:ln w="28575">
            <a:solidFill>
              <a:srgbClr val="FF8C1A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29" name="Badge 529"/>
          <p:cNvSpPr/>
          <p:nvPr/>
        </p:nvSpPr>
        <p:spPr>
          <a:xfrm>
            <a:off x="7100000" y="4350000"/>
            <a:ext cx="700000" cy="700000"/>
          </a:xfrm>
          <a:prstGeom prst="ellipse">
            <a:avLst/>
          </a:prstGeom>
          <a:solidFill>
            <a:srgbClr val="FF8C1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lang="en-US" sz="2600"/>
          </a:p>
        </p:txBody>
      </p:sp>
      <p:sp>
        <p:nvSpPr>
          <p:cNvPr id="530" name="Text 530"/>
          <p:cNvSpPr txBox="1"/>
          <p:nvPr/>
        </p:nvSpPr>
        <p:spPr>
          <a:xfrm>
            <a:off x="7950000" y="4350000"/>
            <a:ext cx="335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Entity Profiler</a:t>
            </a:r>
            <a:endParaRPr lang="en-US" sz="2600"/>
          </a:p>
        </p:txBody>
      </p:sp>
      <p:sp>
        <p:nvSpPr>
          <p:cNvPr id="531" name="Text 531"/>
          <p:cNvSpPr txBox="1"/>
          <p:nvPr/>
        </p:nvSpPr>
        <p:spPr>
          <a:xfrm>
            <a:off x="7100000" y="5300000"/>
            <a:ext cx="410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D6D1B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Interprets deterministic checks: shared device IDs, location changes, dormant accounts.</a:t>
            </a:r>
            <a:endParaRPr lang="en-US" sz="2400"/>
          </a:p>
        </p:txBody>
      </p:sp>
      <p:sp>
        <p:nvSpPr>
          <p:cNvPr id="532" name="Arrow 532"/>
          <p:cNvSpPr/>
          <p:nvPr/>
        </p:nvSpPr>
        <p:spPr>
          <a:xfrm>
            <a:off x="11528000" y="5300000"/>
            <a:ext cx="494000" cy="500000"/>
          </a:xfrm>
          <a:prstGeom prst="rightArrow">
            <a:avLst/>
          </a:prstGeom>
          <a:solidFill>
            <a:srgbClr val="FF8C1A"/>
          </a:solidFill>
          <a:ln>
            <a:noFill/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33" name="Card 533"/>
          <p:cNvSpPr/>
          <p:nvPr/>
        </p:nvSpPr>
        <p:spPr>
          <a:xfrm>
            <a:off x="12100000" y="4100000"/>
            <a:ext cx="4600000" cy="3000000"/>
          </a:xfrm>
          <a:prstGeom prst="roundRect">
            <a:avLst>
              <a:gd name="adj" fmla="val 7000"/>
            </a:avLst>
          </a:prstGeom>
          <a:solidFill>
            <a:srgbClr val="3A3A3A"/>
          </a:solidFill>
          <a:ln w="28575">
            <a:solidFill>
              <a:srgbClr val="FF8C1A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34" name="Badge 534"/>
          <p:cNvSpPr/>
          <p:nvPr/>
        </p:nvSpPr>
        <p:spPr>
          <a:xfrm>
            <a:off x="12350000" y="4350000"/>
            <a:ext cx="700000" cy="700000"/>
          </a:xfrm>
          <a:prstGeom prst="ellipse">
            <a:avLst/>
          </a:prstGeom>
          <a:solidFill>
            <a:srgbClr val="FF8C1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lang="en-US" sz="2600"/>
          </a:p>
        </p:txBody>
      </p:sp>
      <p:sp>
        <p:nvSpPr>
          <p:cNvPr id="535" name="Text 535"/>
          <p:cNvSpPr txBox="1"/>
          <p:nvPr/>
        </p:nvSpPr>
        <p:spPr>
          <a:xfrm>
            <a:off x="13200000" y="4350000"/>
            <a:ext cx="335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Compliance Officer</a:t>
            </a:r>
            <a:endParaRPr lang="en-US" sz="2600"/>
          </a:p>
        </p:txBody>
      </p:sp>
      <p:sp>
        <p:nvSpPr>
          <p:cNvPr id="536" name="Text 536"/>
          <p:cNvSpPr txBox="1"/>
          <p:nvPr/>
        </p:nvSpPr>
        <p:spPr>
          <a:xfrm>
            <a:off x="12350000" y="5300000"/>
            <a:ext cx="410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D6D1B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Drafts a SAR and freeze recommendation, citing the computed evidence.</a:t>
            </a:r>
            <a:endParaRPr lang="en-US" sz="2400"/>
          </a:p>
        </p:txBody>
      </p:sp>
      <p:sp>
        <p:nvSpPr>
          <p:cNvPr id="537" name="Stat 537"/>
          <p:cNvSpPr/>
          <p:nvPr/>
        </p:nvSpPr>
        <p:spPr>
          <a:xfrm>
            <a:off x="3900000" y="7330000"/>
            <a:ext cx="10500000" cy="78000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28575">
            <a:solidFill>
              <a:srgbClr val="FF8C1A"/>
            </a:solidFill>
          </a:ln>
        </p:spPr>
        <p:txBody>
          <a:bodyPr wrap="square" lIns="180000" tIns="120000" rIns="180000" bIns="12000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~30 sec </a:t>
            </a:r>
            <a:r>
              <a:rPr lang="en-US" sz="24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target, timed live: investigation start to draft SAR export</a:t>
            </a:r>
            <a:endParaRPr 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-952474" y="-1050044"/>
            <a:ext cx="3962348" cy="3764231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6" name="Google Shape;146;p6"/>
          <p:cNvSpPr/>
          <p:nvPr/>
        </p:nvSpPr>
        <p:spPr>
          <a:xfrm flipH="1">
            <a:off x="14994729" y="-1414325"/>
            <a:ext cx="4345800" cy="4128511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47" name="Google Shape;147;p6"/>
          <p:cNvGrpSpPr/>
          <p:nvPr/>
        </p:nvGrpSpPr>
        <p:grpSpPr>
          <a:xfrm>
            <a:off x="2368788" y="8390623"/>
            <a:ext cx="13550424" cy="2179108"/>
            <a:chOff x="0" y="-1"/>
            <a:chExt cx="13550423" cy="2179107"/>
          </a:xfrm>
        </p:grpSpPr>
        <p:sp>
          <p:nvSpPr>
            <p:cNvPr id="148" name="Google Shape;148;p6"/>
            <p:cNvSpPr/>
            <p:nvPr/>
          </p:nvSpPr>
          <p:spPr>
            <a:xfrm>
              <a:off x="5245398" y="1054994"/>
              <a:ext cx="978282" cy="1040725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0" y="81605"/>
              <a:ext cx="5483874" cy="1946777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" name="Google Shape;150;p6"/>
            <p:cNvSpPr/>
            <p:nvPr/>
          </p:nvSpPr>
          <p:spPr>
            <a:xfrm flipH="1">
              <a:off x="8066548" y="-1"/>
              <a:ext cx="5483875" cy="1946776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7299044" y="1054994"/>
              <a:ext cx="978282" cy="1040725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6124173" y="676405"/>
              <a:ext cx="1412540" cy="1502701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53" name="Google Shape;153;p6"/>
          <p:cNvSpPr/>
          <p:nvPr/>
        </p:nvSpPr>
        <p:spPr>
          <a:xfrm>
            <a:off x="15745635" y="8842916"/>
            <a:ext cx="3594895" cy="2138963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-585022" y="8842916"/>
            <a:ext cx="3594896" cy="2138963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55" name="Google Shape;155;p6"/>
          <p:cNvGrpSpPr/>
          <p:nvPr/>
        </p:nvGrpSpPr>
        <p:grpSpPr>
          <a:xfrm>
            <a:off x="3021811" y="-721025"/>
            <a:ext cx="12244379" cy="2314415"/>
            <a:chOff x="-1" y="-409736"/>
            <a:chExt cx="12244377" cy="2314414"/>
          </a:xfrm>
        </p:grpSpPr>
        <p:sp>
          <p:nvSpPr>
            <p:cNvPr id="156" name="Google Shape;156;p6"/>
            <p:cNvSpPr/>
            <p:nvPr/>
          </p:nvSpPr>
          <p:spPr>
            <a:xfrm>
              <a:off x="9442894" y="0"/>
              <a:ext cx="2801482" cy="1494942"/>
            </a:xfrm>
            <a:prstGeom prst="rect">
              <a:avLst/>
            </a:prstGeom>
            <a:blipFill rotWithShape="1">
              <a:blip r:embed="rId5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" name="Google Shape;157;p6"/>
            <p:cNvSpPr/>
            <p:nvPr/>
          </p:nvSpPr>
          <p:spPr>
            <a:xfrm>
              <a:off x="4961215" y="-409736"/>
              <a:ext cx="2243459" cy="2314414"/>
            </a:xfrm>
            <a:prstGeom prst="rect">
              <a:avLst/>
            </a:prstGeom>
            <a:blipFill rotWithShape="1">
              <a:blip r:embed="rId6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-1" y="280132"/>
              <a:ext cx="1939145" cy="823772"/>
            </a:xfrm>
            <a:prstGeom prst="rect">
              <a:avLst/>
            </a:prstGeom>
            <a:blipFill rotWithShape="1">
              <a:blip r:embed="rId7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38" name="Title 538"/>
          <p:cNvSpPr txBox="1"/>
          <p:nvPr/>
        </p:nvSpPr>
        <p:spPr>
          <a:xfrm>
            <a:off x="3111500" y="922110"/>
            <a:ext cx="12063900" cy="1065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Proposed Solution</a:t>
            </a:r>
            <a:endParaRPr lang="en-US" sz="2400"/>
          </a:p>
        </p:txBody>
      </p:sp>
      <p:sp>
        <p:nvSpPr>
          <p:cNvPr id="539" name="Card 539"/>
          <p:cNvSpPr/>
          <p:nvPr/>
        </p:nvSpPr>
        <p:spPr>
          <a:xfrm>
            <a:off x="1600000" y="2500000"/>
            <a:ext cx="2700000" cy="3400000"/>
          </a:xfrm>
          <a:prstGeom prst="roundRect">
            <a:avLst>
              <a:gd name="adj" fmla="val 7000"/>
            </a:avLst>
          </a:prstGeom>
          <a:solidFill>
            <a:srgbClr val="3A3A3A"/>
          </a:solidFill>
          <a:ln w="28575">
            <a:solidFill>
              <a:srgbClr val="FF8C1A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40" name="Badge 540"/>
          <p:cNvSpPr/>
          <p:nvPr/>
        </p:nvSpPr>
        <p:spPr>
          <a:xfrm>
            <a:off x="1800000" y="2700000"/>
            <a:ext cx="640000" cy="640000"/>
          </a:xfrm>
          <a:prstGeom prst="ellipse">
            <a:avLst/>
          </a:prstGeom>
          <a:solidFill>
            <a:srgbClr val="FF8C1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lang="en-US" sz="2400"/>
          </a:p>
        </p:txBody>
      </p:sp>
      <p:sp>
        <p:nvSpPr>
          <p:cNvPr id="541" name="Text 541"/>
          <p:cNvSpPr txBox="1"/>
          <p:nvPr/>
        </p:nvSpPr>
        <p:spPr>
          <a:xfrm>
            <a:off x="1800000" y="35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Ingest</a:t>
            </a:r>
            <a:endParaRPr lang="en-US" sz="2700"/>
          </a:p>
        </p:txBody>
      </p:sp>
      <p:sp>
        <p:nvSpPr>
          <p:cNvPr id="542" name="Text 542"/>
          <p:cNvSpPr txBox="1"/>
          <p:nvPr/>
        </p:nvSpPr>
        <p:spPr>
          <a:xfrm>
            <a:off x="1800000" y="4100000"/>
            <a:ext cx="230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D6D1B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Synthetic ledger with legit traffic, injected rings and device IDs</a:t>
            </a:r>
            <a:endParaRPr lang="en-US" sz="2200"/>
          </a:p>
        </p:txBody>
      </p:sp>
      <p:sp>
        <p:nvSpPr>
          <p:cNvPr id="543" name="Arrow 543"/>
          <p:cNvSpPr/>
          <p:nvPr/>
        </p:nvSpPr>
        <p:spPr>
          <a:xfrm>
            <a:off x="4340000" y="4050000"/>
            <a:ext cx="320000" cy="420000"/>
          </a:xfrm>
          <a:prstGeom prst="rightArrow">
            <a:avLst/>
          </a:prstGeom>
          <a:solidFill>
            <a:srgbClr val="FF8C1A"/>
          </a:solidFill>
          <a:ln>
            <a:noFill/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44" name="Card 544"/>
          <p:cNvSpPr/>
          <p:nvPr/>
        </p:nvSpPr>
        <p:spPr>
          <a:xfrm>
            <a:off x="4700000" y="2500000"/>
            <a:ext cx="2700000" cy="3400000"/>
          </a:xfrm>
          <a:prstGeom prst="roundRect">
            <a:avLst>
              <a:gd name="adj" fmla="val 7000"/>
            </a:avLst>
          </a:prstGeom>
          <a:solidFill>
            <a:srgbClr val="3A3A3A"/>
          </a:solidFill>
          <a:ln w="28575">
            <a:solidFill>
              <a:srgbClr val="FF8C1A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45" name="Badge 545"/>
          <p:cNvSpPr/>
          <p:nvPr/>
        </p:nvSpPr>
        <p:spPr>
          <a:xfrm>
            <a:off x="4900000" y="2700000"/>
            <a:ext cx="640000" cy="640000"/>
          </a:xfrm>
          <a:prstGeom prst="ellipse">
            <a:avLst/>
          </a:prstGeom>
          <a:solidFill>
            <a:srgbClr val="FF8C1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lang="en-US" sz="2400"/>
          </a:p>
        </p:txBody>
      </p:sp>
      <p:sp>
        <p:nvSpPr>
          <p:cNvPr id="546" name="Text 546"/>
          <p:cNvSpPr txBox="1"/>
          <p:nvPr/>
        </p:nvSpPr>
        <p:spPr>
          <a:xfrm>
            <a:off x="4900000" y="35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Compute</a:t>
            </a:r>
            <a:endParaRPr lang="en-US" sz="2700"/>
          </a:p>
        </p:txBody>
      </p:sp>
      <p:sp>
        <p:nvSpPr>
          <p:cNvPr id="547" name="Text 547"/>
          <p:cNvSpPr txBox="1"/>
          <p:nvPr/>
        </p:nvSpPr>
        <p:spPr>
          <a:xfrm>
            <a:off x="4900000" y="4100000"/>
            <a:ext cx="230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D6D1B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Graph engine computes cycles, hop amounts, time gaps and device matches</a:t>
            </a:r>
            <a:endParaRPr lang="en-US" sz="2200"/>
          </a:p>
        </p:txBody>
      </p:sp>
      <p:sp>
        <p:nvSpPr>
          <p:cNvPr id="548" name="Arrow 548"/>
          <p:cNvSpPr/>
          <p:nvPr/>
        </p:nvSpPr>
        <p:spPr>
          <a:xfrm>
            <a:off x="7440000" y="4050000"/>
            <a:ext cx="320000" cy="420000"/>
          </a:xfrm>
          <a:prstGeom prst="rightArrow">
            <a:avLst/>
          </a:prstGeom>
          <a:solidFill>
            <a:srgbClr val="FF8C1A"/>
          </a:solidFill>
          <a:ln>
            <a:noFill/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49" name="Card 549"/>
          <p:cNvSpPr/>
          <p:nvPr/>
        </p:nvSpPr>
        <p:spPr>
          <a:xfrm>
            <a:off x="7800000" y="2500000"/>
            <a:ext cx="2700000" cy="3400000"/>
          </a:xfrm>
          <a:prstGeom prst="roundRect">
            <a:avLst>
              <a:gd name="adj" fmla="val 7000"/>
            </a:avLst>
          </a:prstGeom>
          <a:solidFill>
            <a:srgbClr val="3A3A3A"/>
          </a:solidFill>
          <a:ln w="28575">
            <a:solidFill>
              <a:srgbClr val="FF8C1A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50" name="Badge 550"/>
          <p:cNvSpPr/>
          <p:nvPr/>
        </p:nvSpPr>
        <p:spPr>
          <a:xfrm>
            <a:off x="8000000" y="2700000"/>
            <a:ext cx="640000" cy="640000"/>
          </a:xfrm>
          <a:prstGeom prst="ellipse">
            <a:avLst/>
          </a:prstGeom>
          <a:solidFill>
            <a:srgbClr val="FF8C1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lang="en-US" sz="2400"/>
          </a:p>
        </p:txBody>
      </p:sp>
      <p:sp>
        <p:nvSpPr>
          <p:cNvPr id="551" name="Text 551"/>
          <p:cNvSpPr txBox="1"/>
          <p:nvPr/>
        </p:nvSpPr>
        <p:spPr>
          <a:xfrm>
            <a:off x="8000000" y="35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Interpret</a:t>
            </a:r>
            <a:endParaRPr lang="en-US" sz="2700"/>
          </a:p>
        </p:txBody>
      </p:sp>
      <p:sp>
        <p:nvSpPr>
          <p:cNvPr id="552" name="Text 552"/>
          <p:cNvSpPr txBox="1"/>
          <p:nvPr/>
        </p:nvSpPr>
        <p:spPr>
          <a:xfrm>
            <a:off x="8000000" y="4100000"/>
            <a:ext cx="230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D6D1B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Detective and Profiler read that evidence; they never invent accounts</a:t>
            </a:r>
            <a:endParaRPr lang="en-US" sz="2200"/>
          </a:p>
        </p:txBody>
      </p:sp>
      <p:sp>
        <p:nvSpPr>
          <p:cNvPr id="553" name="Arrow 553"/>
          <p:cNvSpPr/>
          <p:nvPr/>
        </p:nvSpPr>
        <p:spPr>
          <a:xfrm>
            <a:off x="10540000" y="4050000"/>
            <a:ext cx="320000" cy="420000"/>
          </a:xfrm>
          <a:prstGeom prst="rightArrow">
            <a:avLst/>
          </a:prstGeom>
          <a:solidFill>
            <a:srgbClr val="FF8C1A"/>
          </a:solidFill>
          <a:ln>
            <a:noFill/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54" name="Card 554"/>
          <p:cNvSpPr/>
          <p:nvPr/>
        </p:nvSpPr>
        <p:spPr>
          <a:xfrm>
            <a:off x="10900000" y="2500000"/>
            <a:ext cx="2700000" cy="3400000"/>
          </a:xfrm>
          <a:prstGeom prst="roundRect">
            <a:avLst>
              <a:gd name="adj" fmla="val 7000"/>
            </a:avLst>
          </a:prstGeom>
          <a:solidFill>
            <a:srgbClr val="3A3A3A"/>
          </a:solidFill>
          <a:ln w="28575">
            <a:solidFill>
              <a:srgbClr val="FF8C1A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55" name="Badge 555"/>
          <p:cNvSpPr/>
          <p:nvPr/>
        </p:nvSpPr>
        <p:spPr>
          <a:xfrm>
            <a:off x="11100000" y="2700000"/>
            <a:ext cx="640000" cy="640000"/>
          </a:xfrm>
          <a:prstGeom prst="ellipse">
            <a:avLst/>
          </a:prstGeom>
          <a:solidFill>
            <a:srgbClr val="FF8C1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r>
            <a:endParaRPr lang="en-US" sz="2400"/>
          </a:p>
        </p:txBody>
      </p:sp>
      <p:sp>
        <p:nvSpPr>
          <p:cNvPr id="556" name="Text 556"/>
          <p:cNvSpPr txBox="1"/>
          <p:nvPr/>
        </p:nvSpPr>
        <p:spPr>
          <a:xfrm>
            <a:off x="11100000" y="35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Report</a:t>
            </a:r>
            <a:endParaRPr lang="en-US" sz="2700"/>
          </a:p>
        </p:txBody>
      </p:sp>
      <p:sp>
        <p:nvSpPr>
          <p:cNvPr id="557" name="Text 557"/>
          <p:cNvSpPr txBox="1"/>
          <p:nvPr/>
        </p:nvSpPr>
        <p:spPr>
          <a:xfrm>
            <a:off x="11100000" y="4100000"/>
            <a:ext cx="230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D6D1B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Compliance agent drafts the SAR and freeze advice, citing evidence</a:t>
            </a:r>
            <a:endParaRPr lang="en-US" sz="2200"/>
          </a:p>
        </p:txBody>
      </p:sp>
      <p:sp>
        <p:nvSpPr>
          <p:cNvPr id="558" name="Arrow 558"/>
          <p:cNvSpPr/>
          <p:nvPr/>
        </p:nvSpPr>
        <p:spPr>
          <a:xfrm>
            <a:off x="13640000" y="4050000"/>
            <a:ext cx="320000" cy="420000"/>
          </a:xfrm>
          <a:prstGeom prst="rightArrow">
            <a:avLst/>
          </a:prstGeom>
          <a:solidFill>
            <a:srgbClr val="FF8C1A"/>
          </a:solidFill>
          <a:ln>
            <a:noFill/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59" name="Card 559"/>
          <p:cNvSpPr/>
          <p:nvPr/>
        </p:nvSpPr>
        <p:spPr>
          <a:xfrm>
            <a:off x="14000000" y="2500000"/>
            <a:ext cx="2700000" cy="3400000"/>
          </a:xfrm>
          <a:prstGeom prst="roundRect">
            <a:avLst>
              <a:gd name="adj" fmla="val 7000"/>
            </a:avLst>
          </a:prstGeom>
          <a:solidFill>
            <a:srgbClr val="3A3A3A"/>
          </a:solidFill>
          <a:ln w="28575">
            <a:solidFill>
              <a:srgbClr val="FF8C1A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60" name="Badge 560"/>
          <p:cNvSpPr/>
          <p:nvPr/>
        </p:nvSpPr>
        <p:spPr>
          <a:xfrm>
            <a:off x="14200000" y="2700000"/>
            <a:ext cx="640000" cy="640000"/>
          </a:xfrm>
          <a:prstGeom prst="ellipse">
            <a:avLst/>
          </a:prstGeom>
          <a:solidFill>
            <a:srgbClr val="FF8C1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r>
            <a:endParaRPr lang="en-US" sz="2400"/>
          </a:p>
        </p:txBody>
      </p:sp>
      <p:sp>
        <p:nvSpPr>
          <p:cNvPr id="561" name="Text 561"/>
          <p:cNvSpPr txBox="1"/>
          <p:nvPr/>
        </p:nvSpPr>
        <p:spPr>
          <a:xfrm>
            <a:off x="14200000" y="35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Visualize</a:t>
            </a:r>
            <a:endParaRPr lang="en-US" sz="2700"/>
          </a:p>
        </p:txBody>
      </p:sp>
      <p:sp>
        <p:nvSpPr>
          <p:cNvPr id="562" name="Text 562"/>
          <p:cNvSpPr txBox="1"/>
          <p:nvPr/>
        </p:nvSpPr>
        <p:spPr>
          <a:xfrm>
            <a:off x="14200000" y="4100000"/>
            <a:ext cx="230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D6D1B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PyVis canvas lights the ring in red; a demo timer shows total time</a:t>
            </a:r>
            <a:endParaRPr lang="en-US" sz="2200"/>
          </a:p>
        </p:txBody>
      </p:sp>
      <p:sp>
        <p:nvSpPr>
          <p:cNvPr id="563" name="Chip 563"/>
          <p:cNvSpPr/>
          <p:nvPr/>
        </p:nvSpPr>
        <p:spPr>
          <a:xfrm>
            <a:off x="1600000" y="6150000"/>
            <a:ext cx="4833333" cy="2050000"/>
          </a:xfrm>
          <a:prstGeom prst="roundRect">
            <a:avLst>
              <a:gd name="adj" fmla="val 7000"/>
            </a:avLst>
          </a:prstGeom>
          <a:solidFill>
            <a:srgbClr val="262626"/>
          </a:solidFill>
          <a:ln>
            <a:noFill/>
          </a:ln>
        </p:spPr>
        <p:txBody>
          <a:bodyPr wrap="square" lIns="250000" tIns="200000" rIns="250000" bIns="15000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BENCHMARK</a:t>
            </a:r>
            <a:endParaRPr lang="en-US" sz="240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Same ledger, several ring patterns and speeds, plus legit loops; honest results</a:t>
            </a:r>
            <a:endParaRPr lang="en-US" sz="2400"/>
          </a:p>
        </p:txBody>
      </p:sp>
      <p:sp>
        <p:nvSpPr>
          <p:cNvPr id="564" name="Chip 564"/>
          <p:cNvSpPr/>
          <p:nvPr/>
        </p:nvSpPr>
        <p:spPr>
          <a:xfrm>
            <a:off x="6733333" y="6150000"/>
            <a:ext cx="4833333" cy="2050000"/>
          </a:xfrm>
          <a:prstGeom prst="roundRect">
            <a:avLst>
              <a:gd name="adj" fmla="val 7000"/>
            </a:avLst>
          </a:prstGeom>
          <a:solidFill>
            <a:srgbClr val="262626"/>
          </a:solidFill>
          <a:ln>
            <a:noFill/>
          </a:ln>
        </p:spPr>
        <p:txBody>
          <a:bodyPr wrap="square" lIns="250000" tIns="200000" rIns="250000" bIns="15000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EVIDENCE</a:t>
            </a:r>
            <a:endParaRPr lang="en-US" sz="240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Every claim in the report links back to a computed graph fact</a:t>
            </a:r>
            <a:endParaRPr lang="en-US" sz="2400"/>
          </a:p>
        </p:txBody>
      </p:sp>
      <p:sp>
        <p:nvSpPr>
          <p:cNvPr id="565" name="Chip 565"/>
          <p:cNvSpPr/>
          <p:nvPr/>
        </p:nvSpPr>
        <p:spPr>
          <a:xfrm>
            <a:off x="11866666" y="6150000"/>
            <a:ext cx="4833333" cy="2050000"/>
          </a:xfrm>
          <a:prstGeom prst="roundRect">
            <a:avLst>
              <a:gd name="adj" fmla="val 7000"/>
            </a:avLst>
          </a:prstGeom>
          <a:solidFill>
            <a:srgbClr val="262626"/>
          </a:solidFill>
          <a:ln>
            <a:noFill/>
          </a:ln>
        </p:spPr>
        <p:txBody>
          <a:bodyPr wrap="square" lIns="250000" tIns="200000" rIns="250000" bIns="15000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OUTPUT</a:t>
            </a:r>
            <a:endParaRPr lang="en-US" sz="240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Red-flagged ring plus a draft SAR for human review</a:t>
            </a:r>
            <a:endParaRPr 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/>
          <p:nvPr/>
        </p:nvSpPr>
        <p:spPr>
          <a:xfrm>
            <a:off x="-952474" y="-1050044"/>
            <a:ext cx="3962348" cy="3764231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5" name="Google Shape;165;p7"/>
          <p:cNvSpPr/>
          <p:nvPr/>
        </p:nvSpPr>
        <p:spPr>
          <a:xfrm flipH="1">
            <a:off x="14994729" y="-1414325"/>
            <a:ext cx="4345800" cy="4128511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66" name="Google Shape;166;p7"/>
          <p:cNvGrpSpPr/>
          <p:nvPr/>
        </p:nvGrpSpPr>
        <p:grpSpPr>
          <a:xfrm>
            <a:off x="2368788" y="8390623"/>
            <a:ext cx="13550424" cy="2179108"/>
            <a:chOff x="0" y="-1"/>
            <a:chExt cx="13550423" cy="2179107"/>
          </a:xfrm>
        </p:grpSpPr>
        <p:sp>
          <p:nvSpPr>
            <p:cNvPr id="167" name="Google Shape;167;p7"/>
            <p:cNvSpPr/>
            <p:nvPr/>
          </p:nvSpPr>
          <p:spPr>
            <a:xfrm>
              <a:off x="5245398" y="1054994"/>
              <a:ext cx="978282" cy="1040725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0" y="81605"/>
              <a:ext cx="5483874" cy="1946777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 flipH="1">
              <a:off x="8066548" y="-1"/>
              <a:ext cx="5483875" cy="1946776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7299044" y="1054994"/>
              <a:ext cx="978282" cy="1040725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6124173" y="676405"/>
              <a:ext cx="1412540" cy="1502701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72" name="Google Shape;172;p7"/>
          <p:cNvSpPr/>
          <p:nvPr/>
        </p:nvSpPr>
        <p:spPr>
          <a:xfrm>
            <a:off x="15745635" y="8842916"/>
            <a:ext cx="3594895" cy="2138963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-585022" y="8842916"/>
            <a:ext cx="3594896" cy="2138963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74" name="Google Shape;174;p7"/>
          <p:cNvGrpSpPr/>
          <p:nvPr/>
        </p:nvGrpSpPr>
        <p:grpSpPr>
          <a:xfrm>
            <a:off x="3021811" y="-578343"/>
            <a:ext cx="12244379" cy="2029052"/>
            <a:chOff x="-1" y="-267054"/>
            <a:chExt cx="12244377" cy="2029050"/>
          </a:xfrm>
        </p:grpSpPr>
        <p:sp>
          <p:nvSpPr>
            <p:cNvPr id="175" name="Google Shape;175;p7"/>
            <p:cNvSpPr/>
            <p:nvPr/>
          </p:nvSpPr>
          <p:spPr>
            <a:xfrm>
              <a:off x="9442894" y="0"/>
              <a:ext cx="2801482" cy="1494942"/>
            </a:xfrm>
            <a:prstGeom prst="rect">
              <a:avLst/>
            </a:prstGeom>
            <a:blipFill rotWithShape="1">
              <a:blip r:embed="rId5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4947136" y="-267054"/>
              <a:ext cx="2243460" cy="2029050"/>
            </a:xfrm>
            <a:prstGeom prst="rect">
              <a:avLst/>
            </a:prstGeom>
            <a:blipFill rotWithShape="1">
              <a:blip r:embed="rId6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-1" y="280132"/>
              <a:ext cx="1939145" cy="823772"/>
            </a:xfrm>
            <a:prstGeom prst="rect">
              <a:avLst/>
            </a:prstGeom>
            <a:blipFill rotWithShape="1">
              <a:blip r:embed="rId7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66" name="Title 566"/>
          <p:cNvSpPr txBox="1"/>
          <p:nvPr/>
        </p:nvSpPr>
        <p:spPr>
          <a:xfrm>
            <a:off x="3111500" y="922110"/>
            <a:ext cx="12063900" cy="1065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Technologies Used</a:t>
            </a:r>
            <a:endParaRPr lang="en-US" sz="2400"/>
          </a:p>
        </p:txBody>
      </p:sp>
      <p:sp>
        <p:nvSpPr>
          <p:cNvPr id="567" name="Text 567"/>
          <p:cNvSpPr txBox="1"/>
          <p:nvPr/>
        </p:nvSpPr>
        <p:spPr>
          <a:xfrm>
            <a:off x="1850000" y="2400000"/>
            <a:ext cx="38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LAYER</a:t>
            </a:r>
            <a:endParaRPr lang="en-US" sz="2400"/>
          </a:p>
        </p:txBody>
      </p:sp>
      <p:sp>
        <p:nvSpPr>
          <p:cNvPr id="568" name="Text 568"/>
          <p:cNvSpPr txBox="1"/>
          <p:nvPr/>
        </p:nvSpPr>
        <p:spPr>
          <a:xfrm>
            <a:off x="5450000" y="2400000"/>
            <a:ext cx="50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TOOL / FRAMEWORK</a:t>
            </a:r>
            <a:endParaRPr lang="en-US" sz="2400"/>
          </a:p>
        </p:txBody>
      </p:sp>
      <p:sp>
        <p:nvSpPr>
          <p:cNvPr id="569" name="Text 569"/>
          <p:cNvSpPr txBox="1"/>
          <p:nvPr/>
        </p:nvSpPr>
        <p:spPr>
          <a:xfrm>
            <a:off x="10600000" y="2400000"/>
            <a:ext cx="58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ROLE IN THE SOLUTION</a:t>
            </a:r>
            <a:endParaRPr lang="en-US" sz="2400"/>
          </a:p>
        </p:txBody>
      </p:sp>
      <p:sp>
        <p:nvSpPr>
          <p:cNvPr id="570" name="Row 570"/>
          <p:cNvSpPr/>
          <p:nvPr/>
        </p:nvSpPr>
        <p:spPr>
          <a:xfrm>
            <a:off x="1600000" y="3100000"/>
            <a:ext cx="15100000" cy="850000"/>
          </a:xfrm>
          <a:prstGeom prst="roundRect">
            <a:avLst>
              <a:gd name="adj" fmla="val 20000"/>
            </a:avLst>
          </a:prstGeom>
          <a:solidFill>
            <a:srgbClr val="3A3A3A"/>
          </a:solidFill>
          <a:ln>
            <a:noFill/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71" name="Text 571"/>
          <p:cNvSpPr txBox="1"/>
          <p:nvPr/>
        </p:nvSpPr>
        <p:spPr>
          <a:xfrm>
            <a:off x="1850000" y="3100000"/>
            <a:ext cx="35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Graph Engine</a:t>
            </a:r>
            <a:endParaRPr lang="en-US" sz="2600"/>
          </a:p>
        </p:txBody>
      </p:sp>
      <p:sp>
        <p:nvSpPr>
          <p:cNvPr id="572" name="Text 572"/>
          <p:cNvSpPr txBox="1"/>
          <p:nvPr/>
        </p:nvSpPr>
        <p:spPr>
          <a:xfrm>
            <a:off x="5450000" y="3100000"/>
            <a:ext cx="50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NetworkX (Python)</a:t>
            </a:r>
            <a:endParaRPr lang="en-US" sz="2400"/>
          </a:p>
        </p:txBody>
      </p:sp>
      <p:sp>
        <p:nvSpPr>
          <p:cNvPr id="573" name="Text 573"/>
          <p:cNvSpPr txBox="1"/>
          <p:nvPr/>
        </p:nvSpPr>
        <p:spPr>
          <a:xfrm>
            <a:off x="10600000" y="3100000"/>
            <a:ext cx="58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D6D1B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Computes cycles, amounts, time gaps and device matches</a:t>
            </a:r>
            <a:endParaRPr lang="en-US" sz="2200"/>
          </a:p>
        </p:txBody>
      </p:sp>
      <p:sp>
        <p:nvSpPr>
          <p:cNvPr id="574" name="Row 574"/>
          <p:cNvSpPr/>
          <p:nvPr/>
        </p:nvSpPr>
        <p:spPr>
          <a:xfrm>
            <a:off x="1600000" y="4070000"/>
            <a:ext cx="15100000" cy="850000"/>
          </a:xfrm>
          <a:prstGeom prst="roundRect">
            <a:avLst>
              <a:gd name="adj" fmla="val 20000"/>
            </a:avLst>
          </a:prstGeom>
          <a:solidFill>
            <a:srgbClr val="3A3A3A"/>
          </a:solidFill>
          <a:ln>
            <a:noFill/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75" name="Text 575"/>
          <p:cNvSpPr txBox="1"/>
          <p:nvPr/>
        </p:nvSpPr>
        <p:spPr>
          <a:xfrm>
            <a:off x="1850000" y="4070000"/>
            <a:ext cx="35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Agent Runtime</a:t>
            </a:r>
            <a:endParaRPr lang="en-US" sz="2600"/>
          </a:p>
        </p:txBody>
      </p:sp>
      <p:sp>
        <p:nvSpPr>
          <p:cNvPr id="576" name="Text 576"/>
          <p:cNvSpPr txBox="1"/>
          <p:nvPr/>
        </p:nvSpPr>
        <p:spPr>
          <a:xfrm>
            <a:off x="5450000" y="4070000"/>
            <a:ext cx="50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CrewAI / LangGraph</a:t>
            </a:r>
            <a:endParaRPr lang="en-US" sz="2400"/>
          </a:p>
        </p:txBody>
      </p:sp>
      <p:sp>
        <p:nvSpPr>
          <p:cNvPr id="577" name="Text 577"/>
          <p:cNvSpPr txBox="1"/>
          <p:nvPr/>
        </p:nvSpPr>
        <p:spPr>
          <a:xfrm>
            <a:off x="10600000" y="4070000"/>
            <a:ext cx="58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D6D1B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Agents interpret the evidence and prepare the report</a:t>
            </a:r>
            <a:endParaRPr lang="en-US" sz="2200"/>
          </a:p>
        </p:txBody>
      </p:sp>
      <p:sp>
        <p:nvSpPr>
          <p:cNvPr id="578" name="Row 578"/>
          <p:cNvSpPr/>
          <p:nvPr/>
        </p:nvSpPr>
        <p:spPr>
          <a:xfrm>
            <a:off x="1600000" y="5040000"/>
            <a:ext cx="15100000" cy="850000"/>
          </a:xfrm>
          <a:prstGeom prst="roundRect">
            <a:avLst>
              <a:gd name="adj" fmla="val 20000"/>
            </a:avLst>
          </a:prstGeom>
          <a:solidFill>
            <a:srgbClr val="3A3A3A"/>
          </a:solidFill>
          <a:ln>
            <a:noFill/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79" name="Text 579"/>
          <p:cNvSpPr txBox="1"/>
          <p:nvPr/>
        </p:nvSpPr>
        <p:spPr>
          <a:xfrm>
            <a:off x="1850000" y="5040000"/>
            <a:ext cx="35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LLM Inference</a:t>
            </a:r>
            <a:endParaRPr lang="en-US" sz="2600"/>
          </a:p>
        </p:txBody>
      </p:sp>
      <p:sp>
        <p:nvSpPr>
          <p:cNvPr id="580" name="Text 580"/>
          <p:cNvSpPr txBox="1"/>
          <p:nvPr/>
        </p:nvSpPr>
        <p:spPr>
          <a:xfrm>
            <a:off x="5450000" y="5040000"/>
            <a:ext cx="50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Gemini API / Groq</a:t>
            </a:r>
            <a:endParaRPr lang="en-US" sz="2400"/>
          </a:p>
        </p:txBody>
      </p:sp>
      <p:sp>
        <p:nvSpPr>
          <p:cNvPr id="581" name="Text 581"/>
          <p:cNvSpPr txBox="1"/>
          <p:nvPr/>
        </p:nvSpPr>
        <p:spPr>
          <a:xfrm>
            <a:off x="10600000" y="5040000"/>
            <a:ext cx="58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D6D1B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Fast reasoning and grounded SAR drafting</a:t>
            </a:r>
            <a:endParaRPr lang="en-US" sz="2200"/>
          </a:p>
        </p:txBody>
      </p:sp>
      <p:sp>
        <p:nvSpPr>
          <p:cNvPr id="582" name="Row 582"/>
          <p:cNvSpPr/>
          <p:nvPr/>
        </p:nvSpPr>
        <p:spPr>
          <a:xfrm>
            <a:off x="1600000" y="6010000"/>
            <a:ext cx="15100000" cy="850000"/>
          </a:xfrm>
          <a:prstGeom prst="roundRect">
            <a:avLst>
              <a:gd name="adj" fmla="val 20000"/>
            </a:avLst>
          </a:prstGeom>
          <a:solidFill>
            <a:srgbClr val="3A3A3A"/>
          </a:solidFill>
          <a:ln>
            <a:noFill/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83" name="Text 583"/>
          <p:cNvSpPr txBox="1"/>
          <p:nvPr/>
        </p:nvSpPr>
        <p:spPr>
          <a:xfrm>
            <a:off x="1850000" y="6010000"/>
            <a:ext cx="35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Frontend UI</a:t>
            </a:r>
            <a:endParaRPr lang="en-US" sz="2600"/>
          </a:p>
        </p:txBody>
      </p:sp>
      <p:sp>
        <p:nvSpPr>
          <p:cNvPr id="584" name="Text 584"/>
          <p:cNvSpPr txBox="1"/>
          <p:nvPr/>
        </p:nvSpPr>
        <p:spPr>
          <a:xfrm>
            <a:off x="5450000" y="6010000"/>
            <a:ext cx="50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Streamlit + PyVis</a:t>
            </a:r>
            <a:endParaRPr lang="en-US" sz="2400"/>
          </a:p>
        </p:txBody>
      </p:sp>
      <p:sp>
        <p:nvSpPr>
          <p:cNvPr id="585" name="Text 585"/>
          <p:cNvSpPr txBox="1"/>
          <p:nvPr/>
        </p:nvSpPr>
        <p:spPr>
          <a:xfrm>
            <a:off x="10600000" y="6010000"/>
            <a:ext cx="58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D6D1B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Interactive network exploration, zero custom CSS</a:t>
            </a:r>
            <a:endParaRPr lang="en-US" sz="2200"/>
          </a:p>
        </p:txBody>
      </p:sp>
      <p:sp>
        <p:nvSpPr>
          <p:cNvPr id="586" name="Row 586"/>
          <p:cNvSpPr/>
          <p:nvPr/>
        </p:nvSpPr>
        <p:spPr>
          <a:xfrm>
            <a:off x="1600000" y="6980000"/>
            <a:ext cx="15100000" cy="850000"/>
          </a:xfrm>
          <a:prstGeom prst="roundRect">
            <a:avLst>
              <a:gd name="adj" fmla="val 20000"/>
            </a:avLst>
          </a:prstGeom>
          <a:solidFill>
            <a:srgbClr val="3A3A3A"/>
          </a:solidFill>
          <a:ln>
            <a:noFill/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87" name="Text 587"/>
          <p:cNvSpPr txBox="1"/>
          <p:nvPr/>
        </p:nvSpPr>
        <p:spPr>
          <a:xfrm>
            <a:off x="1850000" y="6980000"/>
            <a:ext cx="35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</a:t>
            </a:r>
            <a:endParaRPr lang="en-US" sz="2600"/>
          </a:p>
        </p:txBody>
      </p:sp>
      <p:sp>
        <p:nvSpPr>
          <p:cNvPr id="588" name="Text 588"/>
          <p:cNvSpPr txBox="1"/>
          <p:nvPr/>
        </p:nvSpPr>
        <p:spPr>
          <a:xfrm>
            <a:off x="5450000" y="6980000"/>
            <a:ext cx="50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Python + synthetic generator</a:t>
            </a:r>
            <a:endParaRPr lang="en-US" sz="2400"/>
          </a:p>
        </p:txBody>
      </p:sp>
      <p:sp>
        <p:nvSpPr>
          <p:cNvPr id="589" name="Text 589"/>
          <p:cNvSpPr txBox="1"/>
          <p:nvPr/>
        </p:nvSpPr>
        <p:spPr>
          <a:xfrm>
            <a:off x="10600000" y="6980000"/>
            <a:ext cx="58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D6D1B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Several ring patterns, legit loops, synthetic device IDs</a:t>
            </a:r>
            <a:endParaRPr lang="en-US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-952474" y="-1050044"/>
            <a:ext cx="3962348" cy="3764231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" name="Google Shape;184;p8"/>
          <p:cNvSpPr/>
          <p:nvPr/>
        </p:nvSpPr>
        <p:spPr>
          <a:xfrm flipH="1">
            <a:off x="14994729" y="-1414325"/>
            <a:ext cx="4345800" cy="4128511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85" name="Google Shape;185;p8"/>
          <p:cNvGrpSpPr/>
          <p:nvPr/>
        </p:nvGrpSpPr>
        <p:grpSpPr>
          <a:xfrm>
            <a:off x="2368788" y="8390623"/>
            <a:ext cx="13550424" cy="2179108"/>
            <a:chOff x="0" y="-1"/>
            <a:chExt cx="13550423" cy="2179107"/>
          </a:xfrm>
        </p:grpSpPr>
        <p:sp>
          <p:nvSpPr>
            <p:cNvPr id="186" name="Google Shape;186;p8"/>
            <p:cNvSpPr/>
            <p:nvPr/>
          </p:nvSpPr>
          <p:spPr>
            <a:xfrm>
              <a:off x="5245398" y="1054994"/>
              <a:ext cx="978282" cy="1040725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0" y="81605"/>
              <a:ext cx="5483874" cy="1946777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8" name="Google Shape;188;p8"/>
            <p:cNvSpPr/>
            <p:nvPr/>
          </p:nvSpPr>
          <p:spPr>
            <a:xfrm flipH="1">
              <a:off x="8066548" y="-1"/>
              <a:ext cx="5483875" cy="1946776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9" name="Google Shape;189;p8"/>
            <p:cNvSpPr/>
            <p:nvPr/>
          </p:nvSpPr>
          <p:spPr>
            <a:xfrm>
              <a:off x="7299044" y="1054994"/>
              <a:ext cx="978282" cy="1040725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6124173" y="676405"/>
              <a:ext cx="1412540" cy="1502701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91" name="Google Shape;191;p8"/>
          <p:cNvSpPr/>
          <p:nvPr/>
        </p:nvSpPr>
        <p:spPr>
          <a:xfrm>
            <a:off x="15745635" y="8842916"/>
            <a:ext cx="3594895" cy="2138963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-585022" y="8842916"/>
            <a:ext cx="3594896" cy="2138963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93" name="Google Shape;193;p8"/>
          <p:cNvGrpSpPr/>
          <p:nvPr/>
        </p:nvGrpSpPr>
        <p:grpSpPr>
          <a:xfrm>
            <a:off x="3021811" y="-598718"/>
            <a:ext cx="12244379" cy="2069801"/>
            <a:chOff x="-1" y="-287429"/>
            <a:chExt cx="12244377" cy="2069800"/>
          </a:xfrm>
        </p:grpSpPr>
        <p:sp>
          <p:nvSpPr>
            <p:cNvPr id="194" name="Google Shape;194;p8"/>
            <p:cNvSpPr/>
            <p:nvPr/>
          </p:nvSpPr>
          <p:spPr>
            <a:xfrm>
              <a:off x="9442894" y="0"/>
              <a:ext cx="2801482" cy="1494942"/>
            </a:xfrm>
            <a:prstGeom prst="rect">
              <a:avLst/>
            </a:prstGeom>
            <a:blipFill rotWithShape="1">
              <a:blip r:embed="rId5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4904900" y="-287429"/>
              <a:ext cx="2243460" cy="2069800"/>
            </a:xfrm>
            <a:prstGeom prst="rect">
              <a:avLst/>
            </a:prstGeom>
            <a:blipFill rotWithShape="1">
              <a:blip r:embed="rId6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-1" y="280132"/>
              <a:ext cx="1939145" cy="823772"/>
            </a:xfrm>
            <a:prstGeom prst="rect">
              <a:avLst/>
            </a:prstGeom>
            <a:blipFill rotWithShape="1">
              <a:blip r:embed="rId7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90" name="Title 590"/>
          <p:cNvSpPr txBox="1"/>
          <p:nvPr/>
        </p:nvSpPr>
        <p:spPr>
          <a:xfrm>
            <a:off x="3111500" y="922110"/>
            <a:ext cx="12063900" cy="1065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Wireframes / Mock Diagrams</a:t>
            </a:r>
            <a:endParaRPr lang="en-US" sz="2400"/>
          </a:p>
        </p:txBody>
      </p:sp>
      <p:sp>
        <p:nvSpPr>
          <p:cNvPr id="591" name="Window 591"/>
          <p:cNvSpPr/>
          <p:nvPr/>
        </p:nvSpPr>
        <p:spPr>
          <a:xfrm>
            <a:off x="1600000" y="2350000"/>
            <a:ext cx="15100000" cy="5700000"/>
          </a:xfrm>
          <a:prstGeom prst="roundRect">
            <a:avLst>
              <a:gd name="adj" fmla="val 2500"/>
            </a:avLst>
          </a:prstGeom>
          <a:solidFill>
            <a:srgbClr val="262626"/>
          </a:solidFill>
          <a:ln w="19050">
            <a:solidFill>
              <a:srgbClr val="D6D1B5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92" name="Titlebar 592"/>
          <p:cNvSpPr/>
          <p:nvPr/>
        </p:nvSpPr>
        <p:spPr>
          <a:xfrm>
            <a:off x="1600000" y="2350000"/>
            <a:ext cx="15100000" cy="520000"/>
          </a:xfrm>
          <a:prstGeom prst="roundRect">
            <a:avLst>
              <a:gd name="adj" fmla="val 2500"/>
            </a:avLst>
          </a:prstGeom>
          <a:solidFill>
            <a:srgbClr val="1A1A1A"/>
          </a:solidFill>
          <a:ln>
            <a:noFill/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93" name="Dot 593"/>
          <p:cNvSpPr/>
          <p:nvPr/>
        </p:nvSpPr>
        <p:spPr>
          <a:xfrm>
            <a:off x="1850000" y="2520000"/>
            <a:ext cx="180000" cy="180000"/>
          </a:xfrm>
          <a:prstGeom prst="ellipse">
            <a:avLst/>
          </a:prstGeom>
          <a:solidFill>
            <a:srgbClr val="E5484D"/>
          </a:solidFill>
          <a:ln>
            <a:noFill/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94" name="Dot 594"/>
          <p:cNvSpPr/>
          <p:nvPr/>
        </p:nvSpPr>
        <p:spPr>
          <a:xfrm>
            <a:off x="2110000" y="2520000"/>
            <a:ext cx="180000" cy="180000"/>
          </a:xfrm>
          <a:prstGeom prst="ellipse">
            <a:avLst/>
          </a:prstGeom>
          <a:solidFill>
            <a:srgbClr val="FF8C1A"/>
          </a:solidFill>
          <a:ln>
            <a:noFill/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95" name="Dot 595"/>
          <p:cNvSpPr/>
          <p:nvPr/>
        </p:nvSpPr>
        <p:spPr>
          <a:xfrm>
            <a:off x="2370000" y="2520000"/>
            <a:ext cx="180000" cy="180000"/>
          </a:xfrm>
          <a:prstGeom prst="ellipse">
            <a:avLst/>
          </a:prstGeom>
          <a:solidFill>
            <a:srgbClr val="2BD4C5"/>
          </a:solidFill>
          <a:ln>
            <a:noFill/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96" name="Text 596"/>
          <p:cNvSpPr txBox="1"/>
          <p:nvPr/>
        </p:nvSpPr>
        <p:spPr>
          <a:xfrm>
            <a:off x="2800000" y="2350000"/>
            <a:ext cx="90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D6D1B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GhostTrace  |  Investigation Console</a:t>
            </a:r>
            <a:endParaRPr lang="en-US" sz="2000"/>
          </a:p>
        </p:txBody>
      </p:sp>
      <p:sp>
        <p:nvSpPr>
          <p:cNvPr id="597" name="Canvas 597"/>
          <p:cNvSpPr/>
          <p:nvPr/>
        </p:nvSpPr>
        <p:spPr>
          <a:xfrm>
            <a:off x="1800000" y="3000000"/>
            <a:ext cx="8700000" cy="4850000"/>
          </a:xfrm>
          <a:prstGeom prst="roundRect">
            <a:avLst>
              <a:gd name="adj" fmla="val 2500"/>
            </a:avLst>
          </a:prstGeom>
          <a:solidFill>
            <a:srgbClr val="1A1A1A"/>
          </a:solidFill>
          <a:ln w="12700">
            <a:solidFill>
              <a:srgbClr val="6A6A6A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598" name="Text 598"/>
          <p:cNvSpPr txBox="1"/>
          <p:nvPr/>
        </p:nvSpPr>
        <p:spPr>
          <a:xfrm>
            <a:off x="2050000" y="3150000"/>
            <a:ext cx="5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Interactive Graph Canvas</a:t>
            </a:r>
            <a:endParaRPr lang="en-US" sz="2000"/>
          </a:p>
        </p:txBody>
      </p:sp>
      <p:cxnSp>
        <p:nvCxnSpPr>
          <p:cNvPr id="599" name="Connector 599"/>
          <p:cNvCxnSpPr/>
          <p:nvPr/>
        </p:nvCxnSpPr>
        <p:spPr>
          <a:xfrm>
            <a:off x="2600000" y="4300000"/>
            <a:ext cx="2500000" cy="300000"/>
          </a:xfrm>
          <a:prstGeom prst="line">
            <a:avLst/>
          </a:prstGeom>
          <a:ln w="19050">
            <a:solidFill>
              <a:srgbClr val="7A7A7A"/>
            </a:solidFill>
          </a:ln>
        </p:spPr>
      </p:cxnSp>
      <p:cxnSp>
        <p:nvCxnSpPr>
          <p:cNvPr id="600" name="Connector 600"/>
          <p:cNvCxnSpPr/>
          <p:nvPr/>
        </p:nvCxnSpPr>
        <p:spPr>
          <a:xfrm>
            <a:off x="2900000" y="5900000"/>
            <a:ext cx="1400000" cy="500000"/>
          </a:xfrm>
          <a:prstGeom prst="line">
            <a:avLst/>
          </a:prstGeom>
          <a:ln w="19050">
            <a:solidFill>
              <a:srgbClr val="7A7A7A"/>
            </a:solidFill>
          </a:ln>
        </p:spPr>
      </p:cxnSp>
      <p:cxnSp>
        <p:nvCxnSpPr>
          <p:cNvPr id="601" name="Connector 601"/>
          <p:cNvCxnSpPr/>
          <p:nvPr/>
        </p:nvCxnSpPr>
        <p:spPr>
          <a:xfrm flipH="1">
            <a:off x="6800000" y="4200000"/>
            <a:ext cx="1800000" cy="1000000"/>
          </a:xfrm>
          <a:prstGeom prst="line">
            <a:avLst/>
          </a:prstGeom>
          <a:ln w="19050">
            <a:solidFill>
              <a:srgbClr val="7A7A7A"/>
            </a:solidFill>
          </a:ln>
        </p:spPr>
      </p:cxnSp>
      <p:cxnSp>
        <p:nvCxnSpPr>
          <p:cNvPr id="602" name="Connector 602"/>
          <p:cNvCxnSpPr/>
          <p:nvPr/>
        </p:nvCxnSpPr>
        <p:spPr>
          <a:xfrm flipH="1" flipV="1">
            <a:off x="6800000" y="5200000"/>
            <a:ext cx="2700000" cy="700000"/>
          </a:xfrm>
          <a:prstGeom prst="line">
            <a:avLst/>
          </a:prstGeom>
          <a:ln w="19050">
            <a:solidFill>
              <a:srgbClr val="7A7A7A"/>
            </a:solidFill>
          </a:ln>
        </p:spPr>
      </p:cxnSp>
      <p:cxnSp>
        <p:nvCxnSpPr>
          <p:cNvPr id="603" name="Connector 603"/>
          <p:cNvCxnSpPr/>
          <p:nvPr/>
        </p:nvCxnSpPr>
        <p:spPr>
          <a:xfrm flipH="1" flipV="1">
            <a:off x="6100000" y="6800000"/>
            <a:ext cx="1600000" cy="500000"/>
          </a:xfrm>
          <a:prstGeom prst="line">
            <a:avLst/>
          </a:prstGeom>
          <a:ln w="19050">
            <a:solidFill>
              <a:srgbClr val="7A7A7A"/>
            </a:solidFill>
          </a:ln>
        </p:spPr>
      </p:cxnSp>
      <p:cxnSp>
        <p:nvCxnSpPr>
          <p:cNvPr id="604" name="Connector 604"/>
          <p:cNvCxnSpPr/>
          <p:nvPr/>
        </p:nvCxnSpPr>
        <p:spPr>
          <a:xfrm flipV="1">
            <a:off x="2800000" y="6400000"/>
            <a:ext cx="1500000" cy="900000"/>
          </a:xfrm>
          <a:prstGeom prst="line">
            <a:avLst/>
          </a:prstGeom>
          <a:ln w="19050">
            <a:solidFill>
              <a:srgbClr val="7A7A7A"/>
            </a:solidFill>
          </a:ln>
        </p:spPr>
      </p:cxnSp>
      <p:cxnSp>
        <p:nvCxnSpPr>
          <p:cNvPr id="605" name="Connector 605"/>
          <p:cNvCxnSpPr/>
          <p:nvPr/>
        </p:nvCxnSpPr>
        <p:spPr>
          <a:xfrm>
            <a:off x="2600000" y="4300000"/>
            <a:ext cx="300000" cy="1600000"/>
          </a:xfrm>
          <a:prstGeom prst="line">
            <a:avLst/>
          </a:prstGeom>
          <a:ln w="19050">
            <a:solidFill>
              <a:srgbClr val="7A7A7A"/>
            </a:solidFill>
          </a:ln>
        </p:spPr>
      </p:cxnSp>
      <p:cxnSp>
        <p:nvCxnSpPr>
          <p:cNvPr id="606" name="Connector 606"/>
          <p:cNvCxnSpPr/>
          <p:nvPr/>
        </p:nvCxnSpPr>
        <p:spPr>
          <a:xfrm flipH="1">
            <a:off x="9300000" y="5900000"/>
            <a:ext cx="200000" cy="1200000"/>
          </a:xfrm>
          <a:prstGeom prst="line">
            <a:avLst/>
          </a:prstGeom>
          <a:ln w="19050">
            <a:solidFill>
              <a:srgbClr val="7A7A7A"/>
            </a:solidFill>
          </a:ln>
        </p:spPr>
      </p:cxnSp>
      <p:cxnSp>
        <p:nvCxnSpPr>
          <p:cNvPr id="607" name="Connector 607"/>
          <p:cNvCxnSpPr/>
          <p:nvPr/>
        </p:nvCxnSpPr>
        <p:spPr>
          <a:xfrm flipH="1">
            <a:off x="7700000" y="7100000"/>
            <a:ext cx="1600000" cy="200000"/>
          </a:xfrm>
          <a:prstGeom prst="line">
            <a:avLst/>
          </a:prstGeom>
          <a:ln w="19050">
            <a:solidFill>
              <a:srgbClr val="7A7A7A"/>
            </a:solidFill>
          </a:ln>
        </p:spPr>
      </p:cxnSp>
      <p:cxnSp>
        <p:nvCxnSpPr>
          <p:cNvPr id="608" name="Connector 608"/>
          <p:cNvCxnSpPr/>
          <p:nvPr/>
        </p:nvCxnSpPr>
        <p:spPr>
          <a:xfrm>
            <a:off x="5411186" y="4709830"/>
            <a:ext cx="1077626" cy="380338"/>
          </a:xfrm>
          <a:prstGeom prst="line">
            <a:avLst/>
          </a:prstGeom>
          <a:ln w="38100">
            <a:solidFill>
              <a:srgbClr val="E5484D"/>
            </a:solidFill>
            <a:tailEnd type="triangle" w="med" len="med"/>
          </a:ln>
        </p:spPr>
      </p:cxnSp>
      <p:cxnSp>
        <p:nvCxnSpPr>
          <p:cNvPr id="609" name="Connector 609"/>
          <p:cNvCxnSpPr/>
          <p:nvPr/>
        </p:nvCxnSpPr>
        <p:spPr>
          <a:xfrm flipH="1">
            <a:off x="6232270" y="5502331"/>
            <a:ext cx="435459" cy="995336"/>
          </a:xfrm>
          <a:prstGeom prst="line">
            <a:avLst/>
          </a:prstGeom>
          <a:ln w="38100">
            <a:solidFill>
              <a:srgbClr val="E5484D"/>
            </a:solidFill>
            <a:tailEnd type="triangle" w="med" len="med"/>
          </a:ln>
        </p:spPr>
      </p:cxnSp>
      <p:cxnSp>
        <p:nvCxnSpPr>
          <p:cNvPr id="610" name="Connector 610"/>
          <p:cNvCxnSpPr/>
          <p:nvPr/>
        </p:nvCxnSpPr>
        <p:spPr>
          <a:xfrm flipH="1" flipV="1">
            <a:off x="4622141" y="6471587"/>
            <a:ext cx="1155716" cy="256825"/>
          </a:xfrm>
          <a:prstGeom prst="line">
            <a:avLst/>
          </a:prstGeom>
          <a:ln w="38100">
            <a:solidFill>
              <a:srgbClr val="E5484D"/>
            </a:solidFill>
            <a:tailEnd type="triangle" w="med" len="med"/>
          </a:ln>
        </p:spPr>
      </p:cxnSp>
      <p:cxnSp>
        <p:nvCxnSpPr>
          <p:cNvPr id="611" name="Connector 611"/>
          <p:cNvCxnSpPr/>
          <p:nvPr/>
        </p:nvCxnSpPr>
        <p:spPr>
          <a:xfrm flipV="1">
            <a:off x="4434025" y="4901557"/>
            <a:ext cx="531948" cy="1196884"/>
          </a:xfrm>
          <a:prstGeom prst="line">
            <a:avLst/>
          </a:prstGeom>
          <a:ln w="38100">
            <a:solidFill>
              <a:srgbClr val="E5484D"/>
            </a:solidFill>
            <a:tailEnd type="triangle" w="med" len="med"/>
          </a:ln>
        </p:spPr>
      </p:cxnSp>
      <p:sp>
        <p:nvSpPr>
          <p:cNvPr id="612" name="Node 612"/>
          <p:cNvSpPr/>
          <p:nvPr/>
        </p:nvSpPr>
        <p:spPr>
          <a:xfrm>
            <a:off x="2400000" y="4100000"/>
            <a:ext cx="400000" cy="400000"/>
          </a:xfrm>
          <a:prstGeom prst="ellipse">
            <a:avLst/>
          </a:prstGeom>
          <a:solidFill>
            <a:srgbClr val="4A4A4A"/>
          </a:solidFill>
          <a:ln w="19050">
            <a:solidFill>
              <a:srgbClr val="D6D1B5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613" name="Node 613"/>
          <p:cNvSpPr/>
          <p:nvPr/>
        </p:nvSpPr>
        <p:spPr>
          <a:xfrm>
            <a:off x="2700000" y="5700000"/>
            <a:ext cx="400000" cy="400000"/>
          </a:xfrm>
          <a:prstGeom prst="ellipse">
            <a:avLst/>
          </a:prstGeom>
          <a:solidFill>
            <a:srgbClr val="4A4A4A"/>
          </a:solidFill>
          <a:ln w="19050">
            <a:solidFill>
              <a:srgbClr val="D6D1B5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614" name="Node 614"/>
          <p:cNvSpPr/>
          <p:nvPr/>
        </p:nvSpPr>
        <p:spPr>
          <a:xfrm>
            <a:off x="8400000" y="4000000"/>
            <a:ext cx="400000" cy="400000"/>
          </a:xfrm>
          <a:prstGeom prst="ellipse">
            <a:avLst/>
          </a:prstGeom>
          <a:solidFill>
            <a:srgbClr val="4A4A4A"/>
          </a:solidFill>
          <a:ln w="19050">
            <a:solidFill>
              <a:srgbClr val="D6D1B5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615" name="Node 615"/>
          <p:cNvSpPr/>
          <p:nvPr/>
        </p:nvSpPr>
        <p:spPr>
          <a:xfrm>
            <a:off x="9300000" y="5700000"/>
            <a:ext cx="400000" cy="400000"/>
          </a:xfrm>
          <a:prstGeom prst="ellipse">
            <a:avLst/>
          </a:prstGeom>
          <a:solidFill>
            <a:srgbClr val="4A4A4A"/>
          </a:solidFill>
          <a:ln w="19050">
            <a:solidFill>
              <a:srgbClr val="D6D1B5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616" name="Node 616"/>
          <p:cNvSpPr/>
          <p:nvPr/>
        </p:nvSpPr>
        <p:spPr>
          <a:xfrm>
            <a:off x="7500000" y="7100000"/>
            <a:ext cx="400000" cy="400000"/>
          </a:xfrm>
          <a:prstGeom prst="ellipse">
            <a:avLst/>
          </a:prstGeom>
          <a:solidFill>
            <a:srgbClr val="4A4A4A"/>
          </a:solidFill>
          <a:ln w="19050">
            <a:solidFill>
              <a:srgbClr val="D6D1B5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617" name="Node 617"/>
          <p:cNvSpPr/>
          <p:nvPr/>
        </p:nvSpPr>
        <p:spPr>
          <a:xfrm>
            <a:off x="2600000" y="7100000"/>
            <a:ext cx="400000" cy="400000"/>
          </a:xfrm>
          <a:prstGeom prst="ellipse">
            <a:avLst/>
          </a:prstGeom>
          <a:solidFill>
            <a:srgbClr val="4A4A4A"/>
          </a:solidFill>
          <a:ln w="19050">
            <a:solidFill>
              <a:srgbClr val="D6D1B5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618" name="Node 618"/>
          <p:cNvSpPr/>
          <p:nvPr/>
        </p:nvSpPr>
        <p:spPr>
          <a:xfrm>
            <a:off x="9100000" y="6900000"/>
            <a:ext cx="400000" cy="400000"/>
          </a:xfrm>
          <a:prstGeom prst="ellipse">
            <a:avLst/>
          </a:prstGeom>
          <a:solidFill>
            <a:srgbClr val="4A4A4A"/>
          </a:solidFill>
          <a:ln w="19050">
            <a:solidFill>
              <a:srgbClr val="D6D1B5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619" name="Flagged node 619"/>
          <p:cNvSpPr/>
          <p:nvPr/>
        </p:nvSpPr>
        <p:spPr>
          <a:xfrm>
            <a:off x="4820000" y="4320000"/>
            <a:ext cx="560000" cy="560000"/>
          </a:xfrm>
          <a:prstGeom prst="ellipse">
            <a:avLst/>
          </a:prstGeom>
          <a:solidFill>
            <a:srgbClr val="E5484D"/>
          </a:solidFill>
          <a:ln w="28575">
            <a:solidFill>
              <a:srgbClr val="FDF9E0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620" name="Flagged node 620"/>
          <p:cNvSpPr/>
          <p:nvPr/>
        </p:nvSpPr>
        <p:spPr>
          <a:xfrm>
            <a:off x="6520000" y="4920000"/>
            <a:ext cx="560000" cy="560000"/>
          </a:xfrm>
          <a:prstGeom prst="ellipse">
            <a:avLst/>
          </a:prstGeom>
          <a:solidFill>
            <a:srgbClr val="E5484D"/>
          </a:solidFill>
          <a:ln w="28575">
            <a:solidFill>
              <a:srgbClr val="FDF9E0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621" name="Flagged node 621"/>
          <p:cNvSpPr/>
          <p:nvPr/>
        </p:nvSpPr>
        <p:spPr>
          <a:xfrm>
            <a:off x="5820000" y="6520000"/>
            <a:ext cx="560000" cy="560000"/>
          </a:xfrm>
          <a:prstGeom prst="ellipse">
            <a:avLst/>
          </a:prstGeom>
          <a:solidFill>
            <a:srgbClr val="E5484D"/>
          </a:solidFill>
          <a:ln w="28575">
            <a:solidFill>
              <a:srgbClr val="FDF9E0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622" name="Flagged node 622"/>
          <p:cNvSpPr/>
          <p:nvPr/>
        </p:nvSpPr>
        <p:spPr>
          <a:xfrm>
            <a:off x="4020000" y="6120000"/>
            <a:ext cx="560000" cy="560000"/>
          </a:xfrm>
          <a:prstGeom prst="ellipse">
            <a:avLst/>
          </a:prstGeom>
          <a:solidFill>
            <a:srgbClr val="E5484D"/>
          </a:solidFill>
          <a:ln w="28575">
            <a:solidFill>
              <a:srgbClr val="FDF9E0"/>
            </a:solidFill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623" name="Edge label 623"/>
          <p:cNvSpPr/>
          <p:nvPr/>
        </p:nvSpPr>
        <p:spPr>
          <a:xfrm>
            <a:off x="5230000" y="4730000"/>
            <a:ext cx="1440000" cy="34000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12700">
            <a:solidFill>
              <a:srgbClr val="E5484D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$9.8k | 12m</a:t>
            </a:r>
            <a:endParaRPr lang="en-US" sz="1600"/>
          </a:p>
        </p:txBody>
      </p:sp>
      <p:sp>
        <p:nvSpPr>
          <p:cNvPr id="624" name="Edge label 624"/>
          <p:cNvSpPr/>
          <p:nvPr/>
        </p:nvSpPr>
        <p:spPr>
          <a:xfrm>
            <a:off x="5730000" y="5830000"/>
            <a:ext cx="1440000" cy="34000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12700">
            <a:solidFill>
              <a:srgbClr val="E5484D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$9.7k | 9m</a:t>
            </a:r>
            <a:endParaRPr lang="en-US" sz="1600"/>
          </a:p>
        </p:txBody>
      </p:sp>
      <p:sp>
        <p:nvSpPr>
          <p:cNvPr id="625" name="Edge label 625"/>
          <p:cNvSpPr/>
          <p:nvPr/>
        </p:nvSpPr>
        <p:spPr>
          <a:xfrm>
            <a:off x="4480000" y="6430000"/>
            <a:ext cx="1440000" cy="34000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12700">
            <a:solidFill>
              <a:srgbClr val="E5484D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$9.5k | 11m</a:t>
            </a:r>
            <a:endParaRPr lang="en-US" sz="1600"/>
          </a:p>
        </p:txBody>
      </p:sp>
      <p:sp>
        <p:nvSpPr>
          <p:cNvPr id="626" name="Edge label 626"/>
          <p:cNvSpPr/>
          <p:nvPr/>
        </p:nvSpPr>
        <p:spPr>
          <a:xfrm>
            <a:off x="3980000" y="5330000"/>
            <a:ext cx="1440000" cy="34000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12700">
            <a:solidFill>
              <a:srgbClr val="E5484D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$9.4k | 9m</a:t>
            </a:r>
            <a:endParaRPr lang="en-US" sz="1600"/>
          </a:p>
        </p:txBody>
      </p:sp>
      <p:sp>
        <p:nvSpPr>
          <p:cNvPr id="627" name="Legend 627"/>
          <p:cNvSpPr/>
          <p:nvPr/>
        </p:nvSpPr>
        <p:spPr>
          <a:xfrm>
            <a:off x="7400000" y="3130000"/>
            <a:ext cx="29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80000" bIns="0" anchor="ctr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Flagged mule ring</a:t>
            </a:r>
            <a:endParaRPr lang="en-US" sz="1800"/>
          </a:p>
        </p:txBody>
      </p:sp>
      <p:sp>
        <p:nvSpPr>
          <p:cNvPr id="628" name="Legend dot 628"/>
          <p:cNvSpPr/>
          <p:nvPr/>
        </p:nvSpPr>
        <p:spPr>
          <a:xfrm>
            <a:off x="10170000" y="3260000"/>
            <a:ext cx="200000" cy="200000"/>
          </a:xfrm>
          <a:prstGeom prst="ellipse">
            <a:avLst/>
          </a:prstGeom>
          <a:solidFill>
            <a:srgbClr val="E5484D"/>
          </a:solidFill>
          <a:ln>
            <a:noFill/>
          </a:ln>
        </p:spPr>
        <p:txBody>
          <a:bodyPr wrap="square" lIns="180000" tIns="120000" rIns="180000" bIns="120000" anchor="t">
            <a:noAutofit/>
          </a:bodyPr>
          <a:lstStyle/>
          <a:p>
            <a:endParaRPr lang="en-US"/>
          </a:p>
        </p:txBody>
      </p:sp>
      <p:sp>
        <p:nvSpPr>
          <p:cNvPr id="629" name="Console 629"/>
          <p:cNvSpPr/>
          <p:nvPr/>
        </p:nvSpPr>
        <p:spPr>
          <a:xfrm>
            <a:off x="10750000" y="3000000"/>
            <a:ext cx="5750000" cy="255000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 w="12700">
            <a:solidFill>
              <a:srgbClr val="6A6A6A"/>
            </a:solidFill>
          </a:ln>
        </p:spPr>
        <p:txBody>
          <a:bodyPr wrap="square" lIns="250000" tIns="150000" rIns="200000" bIns="10000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Live Investigation Trace</a:t>
            </a:r>
            <a:endParaRPr lang="en-US" sz="200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0" i="0" dirty="0">
                <a:solidFill>
                  <a:srgbClr val="2BD4C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&gt; cycle detected: 4 hops</a:t>
            </a:r>
            <a:endParaRPr lang="en-US" sz="200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0" i="0" dirty="0">
                <a:solidFill>
                  <a:srgbClr val="2BD4C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&gt; time gaps computed: 41m</a:t>
            </a:r>
            <a:endParaRPr lang="en-US" sz="200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0" i="0" dirty="0">
                <a:solidFill>
                  <a:srgbClr val="2BD4C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&gt; device match verified: D17</a:t>
            </a:r>
            <a:endParaRPr lang="en-US" sz="200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FDF9E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&gt; SAR draft generated</a:t>
            </a:r>
            <a:endParaRPr lang="en-US" sz="2000"/>
          </a:p>
        </p:txBody>
      </p:sp>
      <p:sp>
        <p:nvSpPr>
          <p:cNvPr id="630" name="SAR 630"/>
          <p:cNvSpPr/>
          <p:nvPr/>
        </p:nvSpPr>
        <p:spPr>
          <a:xfrm>
            <a:off x="10750000" y="5700000"/>
            <a:ext cx="5750000" cy="2150000"/>
          </a:xfrm>
          <a:prstGeom prst="roundRect">
            <a:avLst>
              <a:gd name="adj" fmla="val 3000"/>
            </a:avLst>
          </a:prstGeom>
          <a:solidFill>
            <a:srgbClr val="3A3A3A"/>
          </a:solidFill>
          <a:ln w="28575">
            <a:solidFill>
              <a:srgbClr val="FF8C1A"/>
            </a:solidFill>
          </a:ln>
        </p:spPr>
        <p:txBody>
          <a:bodyPr wrap="square" lIns="250000" tIns="150000" rIns="200000" bIns="10000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Instant SAR Dossier</a:t>
            </a:r>
            <a:endParaRPr lang="en-US" sz="200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Draft SAR and freeze recommendation, every claim cited to evidence</a:t>
            </a:r>
            <a:endParaRPr lang="en-US" sz="2000"/>
          </a:p>
        </p:txBody>
      </p:sp>
      <p:sp>
        <p:nvSpPr>
          <p:cNvPr id="631" name="Button 631"/>
          <p:cNvSpPr/>
          <p:nvPr/>
        </p:nvSpPr>
        <p:spPr>
          <a:xfrm>
            <a:off x="11000000" y="7150000"/>
            <a:ext cx="3200000" cy="520000"/>
          </a:xfrm>
          <a:prstGeom prst="roundRect">
            <a:avLst>
              <a:gd name="adj" fmla="val 50000"/>
            </a:avLst>
          </a:prstGeom>
          <a:solidFill>
            <a:srgbClr val="FF8C1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Export Draft SAR</a:t>
            </a:r>
            <a:endParaRPr 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/>
          <p:nvPr/>
        </p:nvSpPr>
        <p:spPr>
          <a:xfrm>
            <a:off x="-274131" y="-311289"/>
            <a:ext cx="2731199" cy="273120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455878" y="7182583"/>
            <a:ext cx="971090" cy="1339433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-1599929" y="4779066"/>
            <a:ext cx="6342222" cy="5644577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5" name="Google Shape;205;p9"/>
          <p:cNvSpPr/>
          <p:nvPr/>
        </p:nvSpPr>
        <p:spPr>
          <a:xfrm flipH="1">
            <a:off x="13544441" y="4779066"/>
            <a:ext cx="6342222" cy="5644577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6" name="Google Shape;206;p9"/>
          <p:cNvSpPr/>
          <p:nvPr/>
        </p:nvSpPr>
        <p:spPr>
          <a:xfrm flipH="1">
            <a:off x="16200370" y="-311289"/>
            <a:ext cx="2731200" cy="273120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7" name="Google Shape;207;p9"/>
          <p:cNvSpPr/>
          <p:nvPr/>
        </p:nvSpPr>
        <p:spPr>
          <a:xfrm flipH="1">
            <a:off x="12025121" y="7182583"/>
            <a:ext cx="971089" cy="1339433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2816311" y="3499290"/>
            <a:ext cx="12655378" cy="1740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Clr>
                <a:srgbClr val="FDF9E0"/>
              </a:buClr>
              <a:buSzPts val="17500"/>
              <a:buFont typeface="Arial" panose="020B0604020202020204"/>
              <a:buNone/>
            </a:pPr>
            <a:r>
              <a:rPr lang="en-US" sz="17500" b="0" i="0" u="none" strike="noStrike" cap="none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 You!</a:t>
            </a:r>
            <a:endParaRPr lang="en-US" sz="17500" b="0" i="0" u="none" strike="noStrike" cap="none">
              <a:solidFill>
                <a:srgbClr val="FDF9E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09" name="Google Shape;209;p9"/>
          <p:cNvGrpSpPr/>
          <p:nvPr/>
        </p:nvGrpSpPr>
        <p:grpSpPr>
          <a:xfrm>
            <a:off x="3021811" y="-684124"/>
            <a:ext cx="12244379" cy="2240613"/>
            <a:chOff x="-1" y="-372835"/>
            <a:chExt cx="12244377" cy="2240612"/>
          </a:xfrm>
        </p:grpSpPr>
        <p:sp>
          <p:nvSpPr>
            <p:cNvPr id="210" name="Google Shape;210;p9"/>
            <p:cNvSpPr/>
            <p:nvPr/>
          </p:nvSpPr>
          <p:spPr>
            <a:xfrm>
              <a:off x="9442894" y="0"/>
              <a:ext cx="2801482" cy="1494942"/>
            </a:xfrm>
            <a:prstGeom prst="rect">
              <a:avLst/>
            </a:prstGeom>
            <a:blipFill rotWithShape="1">
              <a:blip r:embed="rId4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4989372" y="-372835"/>
              <a:ext cx="2243459" cy="2240612"/>
            </a:xfrm>
            <a:prstGeom prst="rect">
              <a:avLst/>
            </a:prstGeom>
            <a:blipFill rotWithShape="1">
              <a:blip r:embed="rId5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-1" y="280132"/>
              <a:ext cx="1939145" cy="823772"/>
            </a:xfrm>
            <a:prstGeom prst="rect">
              <a:avLst/>
            </a:prstGeom>
            <a:blipFill rotWithShape="1">
              <a:blip r:embed="rId6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32" name="Text 632"/>
          <p:cNvSpPr txBox="1"/>
          <p:nvPr/>
        </p:nvSpPr>
        <p:spPr>
          <a:xfrm>
            <a:off x="4400000" y="5450000"/>
            <a:ext cx="95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FF8C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GhostTrace</a:t>
            </a:r>
            <a:r>
              <a:rPr lang="en-US" sz="3200" b="0" i="0" dirty="0">
                <a:solidFill>
                  <a:srgbClr val="FDF9E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|  The Vampire’s Ledger</a:t>
            </a:r>
            <a:endParaRPr lang="en-US" sz="3200"/>
          </a:p>
        </p:txBody>
      </p:sp>
      <p:sp>
        <p:nvSpPr>
          <p:cNvPr id="633" name="Text 633"/>
          <p:cNvSpPr txBox="1"/>
          <p:nvPr/>
        </p:nvSpPr>
        <p:spPr>
          <a:xfrm>
            <a:off x="4400000" y="6250000"/>
            <a:ext cx="95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1" dirty="0">
                <a:solidFill>
                  <a:srgbClr val="D6D1B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Unmasking mule rings and generating</a:t>
            </a:r>
            <a:endParaRPr lang="en-US" sz="260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1" dirty="0">
                <a:solidFill>
                  <a:srgbClr val="D6D1B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evidence-backed SAR drafts in seconds.</a:t>
            </a:r>
            <a:endParaRPr lang="en-US"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3865</Words>
  <Application>WPS Presentation</Application>
  <PresentationFormat/>
  <Paragraphs>228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Cinzel Decorative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Pooja Avadhani</cp:lastModifiedBy>
  <cp:revision>1</cp:revision>
  <dcterms:created xsi:type="dcterms:W3CDTF">2026-10-18T16:45:21Z</dcterms:created>
  <dcterms:modified xsi:type="dcterms:W3CDTF">2026-10-18T16:45:22Z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0D7A3FDD1F6B4E7BBD2753B6A772886C_12</vt:lpwstr>
  </property>
  <property fmtid="{D5CDD505-2E9C-101B-9397-08002B2CF9AE}" pid="3" name="KSOProductBuildVer">
    <vt:lpwstr>2057-12.2.0.23206</vt:lpwstr>
  </property>
</Properties>
</file>